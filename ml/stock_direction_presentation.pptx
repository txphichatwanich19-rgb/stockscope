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5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3E6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LogReg</c:v>
                  </c:pt>
                  <c:pt idx="2">
                    <c:v>Rand.Forest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0.5127</c:v>
                </c:pt>
                <c:pt idx="1">
                  <c:v>0.516</c:v>
                </c:pt>
                <c:pt idx="2">
                  <c:v>0.5139</c:v>
                </c:pt>
                <c:pt idx="3">
                  <c:v>0.5062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100" u="none">
                  <a:solidFill>
                    <a:srgbClr val="F5F5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B6B7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6"/>
          <c:min val="0.4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5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3E6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LogReg</c:v>
                  </c:pt>
                  <c:pt idx="2">
                    <c:v>Rand.Forest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0.5129</c:v>
                </c:pt>
                <c:pt idx="2">
                  <c:v>0.4998</c:v>
                </c:pt>
                <c:pt idx="3">
                  <c:v>0.505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F5F5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B6B7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6"/>
          <c:min val="0.4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ความแม่นยำ XGBoost</c:v>
                </c:pt>
              </c:strCache>
            </c:strRef>
          </c:tx>
          <c:spPr>
            <a:solidFill>
              <a:srgbClr val="A3E635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5F5"/>
                    </a:solidFill>
                    <a:latin typeface="Leelawade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วัน</c:v>
                  </c:pt>
                  <c:pt idx="1">
                    <c:v>5 วัน</c:v>
                  </c:pt>
                  <c:pt idx="2">
                    <c:v>10 วัน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0.5062</c:v>
                </c:pt>
                <c:pt idx="1">
                  <c:v>0.5146</c:v>
                </c:pt>
                <c:pt idx="2">
                  <c:v>0.5308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(ทายกลุ่มมากสุด)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5F5"/>
                    </a:solidFill>
                    <a:latin typeface="Leelawade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วัน</c:v>
                  </c:pt>
                  <c:pt idx="1">
                    <c:v>5 วัน</c:v>
                  </c:pt>
                  <c:pt idx="2">
                    <c:v>10 วัน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0.5127</c:v>
                </c:pt>
                <c:pt idx="1">
                  <c:v>0.5306</c:v>
                </c:pt>
                <c:pt idx="2">
                  <c:v>0.527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F5F5F5"/>
                  </a:solidFill>
                  <a:latin typeface="Leelawade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B6B7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Leelawade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6"/>
          <c:min val="0.4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AA5B1"/>
              </a:solidFill>
              <a:latin typeface="Leelawadee UI"/>
              <a:cs typeface="Leelawade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5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ret_21d</c:v>
                  </c:pt>
                  <c:pt idx="1">
                    <c:v>dist_sma50</c:v>
                  </c:pt>
                  <c:pt idx="2">
                    <c:v>rsi14</c:v>
                  </c:pt>
                  <c:pt idx="3">
                    <c:v>macd_hist</c:v>
                  </c:pt>
                  <c:pt idx="4">
                    <c:v>volatility_20d</c:v>
                  </c:pt>
                  <c:pt idx="5">
                    <c:v>dist_sma20</c:v>
                  </c:pt>
                  <c:pt idx="6">
                    <c:v>ret_5d</c:v>
                  </c:pt>
                  <c:pt idx="7">
                    <c:v>ret_10d</c:v>
                  </c:pt>
                  <c:pt idx="8">
                    <c:v>ret_1d</c:v>
                  </c:pt>
                  <c:pt idx="9">
                    <c:v>vol_ratio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0.0957</c:v>
                </c:pt>
                <c:pt idx="1">
                  <c:v>0.0979</c:v>
                </c:pt>
                <c:pt idx="2">
                  <c:v>0.0981</c:v>
                </c:pt>
                <c:pt idx="3">
                  <c:v>0.0992</c:v>
                </c:pt>
                <c:pt idx="4">
                  <c:v>0.1</c:v>
                </c:pt>
                <c:pt idx="5">
                  <c:v>0.1009</c:v>
                </c:pt>
                <c:pt idx="6">
                  <c:v>0.1015</c:v>
                </c:pt>
                <c:pt idx="7">
                  <c:v>0.1021</c:v>
                </c:pt>
                <c:pt idx="8">
                  <c:v>0.1022</c:v>
                </c:pt>
                <c:pt idx="9">
                  <c:v>0.1023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F5F5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5B6B7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ทำนายทิศทางหุ้น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ด้วย XGBoost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ไปป์ไลน์ Machine Learning แบบไม่รั่วไหลข้อมูล ต่อยอดจากแดชบอร์ดที่ใช้งานจริง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41A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4892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 ___  ·  [ชื่อทีมที่นี่]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CP020003 · ปัญญาประดิษฐ์ · โปรเจกต์จบภาคการศึกษา · มหาวิทยาลัยขอนแก่น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78240" y="5212080"/>
            <a:ext cx="256032" cy="914400"/>
          </a:xfrm>
          <a:prstGeom prst="roundRect">
            <a:avLst>
              <a:gd name="adj" fmla="val 10714"/>
            </a:avLst>
          </a:prstGeom>
          <a:solidFill>
            <a:srgbClr val="A3E635"/>
          </a:solidFill>
          <a:ln/>
        </p:spPr>
      </p:sp>
      <p:sp>
        <p:nvSpPr>
          <p:cNvPr id="9" name="Shape 7"/>
          <p:cNvSpPr/>
          <p:nvPr/>
        </p:nvSpPr>
        <p:spPr>
          <a:xfrm>
            <a:off x="9162288" y="4663440"/>
            <a:ext cx="256032" cy="1463040"/>
          </a:xfrm>
          <a:prstGeom prst="roundRect">
            <a:avLst>
              <a:gd name="adj" fmla="val 10714"/>
            </a:avLst>
          </a:prstGeom>
          <a:solidFill>
            <a:srgbClr val="5B6B7C"/>
          </a:solidFill>
          <a:ln/>
        </p:spPr>
      </p:sp>
      <p:sp>
        <p:nvSpPr>
          <p:cNvPr id="10" name="Shape 8"/>
          <p:cNvSpPr/>
          <p:nvPr/>
        </p:nvSpPr>
        <p:spPr>
          <a:xfrm>
            <a:off x="9546336" y="5394960"/>
            <a:ext cx="256032" cy="731520"/>
          </a:xfrm>
          <a:prstGeom prst="roundRect">
            <a:avLst>
              <a:gd name="adj" fmla="val 10714"/>
            </a:avLst>
          </a:prstGeom>
          <a:solidFill>
            <a:srgbClr val="A3E635"/>
          </a:solidFill>
          <a:ln/>
        </p:spPr>
      </p:sp>
      <p:sp>
        <p:nvSpPr>
          <p:cNvPr id="11" name="Shape 9"/>
          <p:cNvSpPr/>
          <p:nvPr/>
        </p:nvSpPr>
        <p:spPr>
          <a:xfrm>
            <a:off x="9930384" y="4206240"/>
            <a:ext cx="256032" cy="1920240"/>
          </a:xfrm>
          <a:prstGeom prst="roundRect">
            <a:avLst>
              <a:gd name="adj" fmla="val 10714"/>
            </a:avLst>
          </a:prstGeom>
          <a:solidFill>
            <a:srgbClr val="A3E63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14432" y="4937760"/>
            <a:ext cx="256032" cy="1188720"/>
          </a:xfrm>
          <a:prstGeom prst="roundRect">
            <a:avLst>
              <a:gd name="adj" fmla="val 10714"/>
            </a:avLst>
          </a:prstGeom>
          <a:solidFill>
            <a:srgbClr val="5B6B7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0" y="4389120"/>
            <a:ext cx="256032" cy="1737360"/>
          </a:xfrm>
          <a:prstGeom prst="roundRect">
            <a:avLst>
              <a:gd name="adj" fmla="val 10714"/>
            </a:avLst>
          </a:prstGeom>
          <a:solidFill>
            <a:srgbClr val="A3E635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82528" y="5120640"/>
            <a:ext cx="256032" cy="1005840"/>
          </a:xfrm>
          <a:prstGeom prst="roundRect">
            <a:avLst>
              <a:gd name="adj" fmla="val 10714"/>
            </a:avLst>
          </a:prstGeom>
          <a:solidFill>
            <a:srgbClr val="5B6B7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66576" y="3931920"/>
            <a:ext cx="256032" cy="2194560"/>
          </a:xfrm>
          <a:prstGeom prst="roundRect">
            <a:avLst>
              <a:gd name="adj" fmla="val 10714"/>
            </a:avLst>
          </a:prstGeom>
          <a:solidFill>
            <a:srgbClr val="A3E6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ทีมของเรา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สมาชิกในกลุ่ม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กลุ่มที่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___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ชื่อกลุ่ม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[ชื่อทีมที่นี่]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3291840"/>
        </p:xfrm>
        <a:graphic>
          <a:graphicData uri="http://schemas.openxmlformats.org/drawingml/2006/table">
            <a:tbl>
              <a:tblPr/>
              <a:tblGrid>
                <a:gridCol w="1097280"/>
                <a:gridCol w="630936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3E63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#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3E63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ชื่อนักศึกษา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3E63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รหัสนักศึกษา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3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_______________________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_______________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E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_______________________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_______________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3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_______________________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_______________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E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_______________________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_______________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_______________________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_______________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0E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ที่มาและหัวข้อ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ทำไมถึงทำโปรเจกต์นี้?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เราสร้าง Stockscope ไว้แล้ว — แดชบอร์ดที่คำนวณ RSI, MACD, ค่าเฉลี่ยเคลื่อนที่ และโซนแนวรับ-แนวต้าน ให้หุ้นทุกตัวแบบเรียลไทม์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คำถามที่ตามมาคือสิ่งที่เราทดสอบได้จริงด้วยข้อมูลที่มีอยู่แล้ว: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3832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“อินดิเคเตอร์เดียวกันนี้ ทำนายทิศทางราคาถัดไปได้ไหม?”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0" y="16916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69480" y="1947672"/>
            <a:ext cx="731520" cy="7315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2" name="Image 0" descr="C:\Users\NBODT\AppData\Local\Temp\claude\C--Users-NBODT-Desktop-----\2b6ff6e8-e305-4bc6-988f-ca2316229282\scratchpad\slides\icons\bar-char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130552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183880" y="1837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แดชบอร์ดเรียลไทม์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RSI · MACD · SMA · Volume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คำนวณแบบวันต่อวัน</a:t>
            </a:r>
            <a:endParaRPr lang="en-US" sz="1100" dirty="0"/>
          </a:p>
        </p:txBody>
      </p:sp>
      <p:pic>
        <p:nvPicPr>
          <p:cNvPr id="15" name="Image 1" descr="C:\Users\NBODT\AppData\Local\Temp\claude\C--Users-NBODT-Desktop-----\2b6ff6e8-e305-4bc6-988f-ca2316229282\scratchpad\slides\icons\arrow-right-mu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985516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040880" y="3227832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69480" y="3483864"/>
            <a:ext cx="731520" cy="7315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8" name="Image 2" descr="C:\Users\NBODT\AppData\Local\Temp\claude\C--Users-NBODT-Desktop-----\2b6ff6e8-e305-4bc6-988f-ca2316229282\scratchpad\slides\icons\target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66674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83880" y="33741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คำถามหลัก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37307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ขึ้นหรือลง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ในอีก N วันข้างหน้า?</a:t>
            </a:r>
            <a:endParaRPr lang="en-US" sz="1100" dirty="0"/>
          </a:p>
        </p:txBody>
      </p:sp>
      <p:pic>
        <p:nvPicPr>
          <p:cNvPr id="21" name="Image 3" descr="C:\Users\NBODT\AppData\Local\Temp\claude\C--Users-NBODT-Desktop-----\2b6ff6e8-e305-4bc6-988f-ca2316229282\scratchpad\slides\icons\arrow-right-mut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4521708"/>
            <a:ext cx="182880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040880" y="4764024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269480" y="5020056"/>
            <a:ext cx="731520" cy="7315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24" name="Image 4" descr="C:\Users\NBODT\AppData\Local\Temp\claude\C--Users-NBODT-Desktop-----\2b6ff6e8-e305-4bc6-988f-ca2316229282\scratchpad\slides\icons\cpu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5202936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183880" y="4910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โมเดล ML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8183880" y="52669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จำแนกสองกลุ่ม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เทรนจากข้อมูลย้อนหลัง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โจทย์ AI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มองเป็นปัญหา Machine Learning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874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การจำแนกแบบสองกลุ่ม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label_up = 1  if Close[t+N] &gt; Close[t]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label_up = 0  otherwise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Input: อินดิเคเตอร์ทางเทคนิคจนถึงวันที่ 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Output: ความน่าจะเป็นที่ราคาจะสูงขึ้นในอีก N วัน</a:t>
            </a:r>
            <a:endParaRPr lang="en-US" sz="1300" dirty="0"/>
          </a:p>
        </p:txBody>
      </p:sp>
      <p:pic>
        <p:nvPicPr>
          <p:cNvPr id="10" name="Image 0" descr="C:\Users\NBODT\AppData\Local\Temp\claude\C--Users-NBODT-Desktop-----\2b6ff6e8-e305-4bc6-988f-ca2316229282\scratchpad\slides\icons\zap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6052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41056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เทรนเร็ว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44165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รันจบในไม่กี่วินาที บนโน้ตบุ๊กหรือ Colab ฟรี</a:t>
            </a:r>
            <a:endParaRPr lang="en-US" sz="1100" dirty="0"/>
          </a:p>
        </p:txBody>
      </p:sp>
      <p:pic>
        <p:nvPicPr>
          <p:cNvPr id="13" name="Image 1" descr="C:\Users\NBODT\AppData\Local\Temp\claude\C--Users-NBODT-Desktop-----\2b6ff6e8-e305-4bc6-988f-ca2316229282\scratchpad\slides\icons\layers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7274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80160" y="46725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เหมาะกับข้อมูลตาราง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280160" y="4983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ฟีเจอร์ของเราคือตัวเลขอินดิเคเตอร์ ไม่ใช่รูปภาพหรือข้อความ</a:t>
            </a:r>
            <a:endParaRPr lang="en-US" sz="1100" dirty="0"/>
          </a:p>
        </p:txBody>
      </p:sp>
      <p:pic>
        <p:nvPicPr>
          <p:cNvPr id="16" name="Image 2" descr="C:\Users\NBODT\AppData\Local\Temp\claude\C--Users-NBODT-Desktop-----\2b6ff6e8-e305-4bc6-988f-ca2316229282\scratchpad\slides\icons\target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943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5239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อธิบายได้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55504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Importance บอกได้ว่า “ทำไม” ไม่ใช่แค่ตัวเลข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rgbClr val="1B2330"/>
          </a:solidFill>
          <a:ln w="19050">
            <a:solidFill>
              <a:srgbClr val="A3E635"/>
            </a:solidFill>
            <a:prstDash val="solid"/>
          </a:ln>
        </p:spPr>
      </p:sp>
      <p:pic>
        <p:nvPicPr>
          <p:cNvPr id="20" name="Image 3" descr="C:\Users\NBODT\AppData\Local\Temp\claude\C--Users-NBODT-Desktop-----\2b6ff6e8-e305-4bc6-988f-ca2316229282\scratchpad\slides\icons\database-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20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69480" y="1764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26948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OHLCV 5 ปี, 20 หุ้น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766560" y="2331720"/>
            <a:ext cx="0" cy="502920"/>
          </a:xfrm>
          <a:prstGeom prst="line">
            <a:avLst/>
          </a:prstGeom>
          <a:noFill/>
          <a:ln w="19050">
            <a:solidFill>
              <a:srgbClr val="5B6B7C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6492240" y="2834640"/>
            <a:ext cx="548640" cy="548640"/>
          </a:xfrm>
          <a:prstGeom prst="ellipse">
            <a:avLst/>
          </a:prstGeom>
          <a:solidFill>
            <a:srgbClr val="1B2330"/>
          </a:solidFill>
          <a:ln w="19050">
            <a:solidFill>
              <a:srgbClr val="A3E635"/>
            </a:solidFill>
            <a:prstDash val="solid"/>
          </a:ln>
        </p:spPr>
      </p:sp>
      <p:pic>
        <p:nvPicPr>
          <p:cNvPr id="25" name="Image 4" descr="C:\Users\NBODT\AppData\Local\Temp\claude\C--Users-NBODT-Desktop-----\2b6ff6e8-e305-4bc6-988f-ca2316229282\scratchpad\slides\icons\activity-li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9718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69480" y="28163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269480" y="3108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RSI · MACD · SMA · Vol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766560" y="3383280"/>
            <a:ext cx="0" cy="502920"/>
          </a:xfrm>
          <a:prstGeom prst="line">
            <a:avLst/>
          </a:prstGeom>
          <a:noFill/>
          <a:ln w="19050">
            <a:solidFill>
              <a:srgbClr val="5B6B7C"/>
            </a:solidFill>
            <a:prstDash val="dash"/>
          </a:ln>
        </p:spPr>
      </p:sp>
      <p:sp>
        <p:nvSpPr>
          <p:cNvPr id="29" name="Shape 22"/>
          <p:cNvSpPr/>
          <p:nvPr/>
        </p:nvSpPr>
        <p:spPr>
          <a:xfrm>
            <a:off x="6492240" y="3886200"/>
            <a:ext cx="548640" cy="548640"/>
          </a:xfrm>
          <a:prstGeom prst="ellipse">
            <a:avLst/>
          </a:prstGeom>
          <a:solidFill>
            <a:srgbClr val="1B2330"/>
          </a:solidFill>
          <a:ln w="19050">
            <a:solidFill>
              <a:srgbClr val="A3E635"/>
            </a:solidFill>
            <a:prstDash val="solid"/>
          </a:ln>
        </p:spPr>
      </p:sp>
      <p:pic>
        <p:nvPicPr>
          <p:cNvPr id="30" name="Image 5" descr="C:\Users\NBODT\AppData\Local\Temp\claude\C--Users-NBODT-Desktop-----\2b6ff6e8-e305-4bc6-988f-ca2316229282\scratchpad\slides\icons\cpu-li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02336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69480" y="38679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โมเดล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726948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XGBoost classifier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766560" y="4434840"/>
            <a:ext cx="0" cy="502920"/>
          </a:xfrm>
          <a:prstGeom prst="line">
            <a:avLst/>
          </a:prstGeom>
          <a:noFill/>
          <a:ln w="19050">
            <a:solidFill>
              <a:srgbClr val="5B6B7C"/>
            </a:solidFill>
            <a:prstDash val="dash"/>
          </a:ln>
        </p:spPr>
      </p:sp>
      <p:sp>
        <p:nvSpPr>
          <p:cNvPr id="34" name="Shape 26"/>
          <p:cNvSpPr/>
          <p:nvPr/>
        </p:nvSpPr>
        <p:spPr>
          <a:xfrm>
            <a:off x="6492240" y="4937760"/>
            <a:ext cx="548640" cy="548640"/>
          </a:xfrm>
          <a:prstGeom prst="ellipse">
            <a:avLst/>
          </a:prstGeom>
          <a:solidFill>
            <a:srgbClr val="1B2330"/>
          </a:solidFill>
          <a:ln w="19050">
            <a:solidFill>
              <a:srgbClr val="A3E635"/>
            </a:solidFill>
            <a:prstDash val="solid"/>
          </a:ln>
        </p:spPr>
      </p:sp>
      <p:pic>
        <p:nvPicPr>
          <p:cNvPr id="35" name="Image 6" descr="C:\Users\NBODT\AppData\Local\Temp\claude\C--Users-NBODT-Desktop-----\2b6ff6e8-e305-4bc6-988f-ca2316229282\scratchpad\slides\icons\bar-chart-lim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507492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26948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ผลทำนาย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7269480" y="5212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P(ขึ้น) ใน N วัน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ชุดข้อมูลและ EDA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ชุดข้อมูล (Dataset)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จำนวนหุ้น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6616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ปี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ข้อมูลรายวัน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5508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25,080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แถวข้อมูลทั้งหมด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ข้อมูลขาดหาย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แหล่งข้อมูลเดียวกับที่ Stockscope ใช้งานจริง: Yahoo Finance ผ่าน yfinance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ช่วงข้อมูล: 2021-10-04  →  2026-10-01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กลุ่มอุตสาหกรรมที่ครอบคลุม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527048" cy="411480"/>
          </a:xfrm>
          <a:prstGeom prst="roundRect">
            <a:avLst>
              <a:gd name="adj" fmla="val 48889"/>
            </a:avLst>
          </a:prstGeom>
          <a:solidFill>
            <a:srgbClr val="1B23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572000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58568" y="4572000"/>
            <a:ext cx="1289304" cy="411480"/>
          </a:xfrm>
          <a:prstGeom prst="roundRect">
            <a:avLst>
              <a:gd name="adj" fmla="val 48889"/>
            </a:avLst>
          </a:prstGeom>
          <a:solidFill>
            <a:srgbClr val="1B23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258568" y="4572000"/>
            <a:ext cx="1289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การเงิน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30752" y="4572000"/>
            <a:ext cx="1289304" cy="411480"/>
          </a:xfrm>
          <a:prstGeom prst="roundRect">
            <a:avLst>
              <a:gd name="adj" fmla="val 48889"/>
            </a:avLst>
          </a:prstGeom>
          <a:solidFill>
            <a:srgbClr val="1B23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30752" y="4572000"/>
            <a:ext cx="1289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พลังงาน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02936" y="4572000"/>
            <a:ext cx="1170432" cy="411480"/>
          </a:xfrm>
          <a:prstGeom prst="roundRect">
            <a:avLst>
              <a:gd name="adj" fmla="val 48889"/>
            </a:avLst>
          </a:prstGeom>
          <a:solidFill>
            <a:srgbClr val="1B233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02936" y="45720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สุขภาพ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2596896" cy="411480"/>
          </a:xfrm>
          <a:prstGeom prst="roundRect">
            <a:avLst>
              <a:gd name="adj" fmla="val 48889"/>
            </a:avLst>
          </a:prstGeom>
          <a:solidFill>
            <a:srgbClr val="1B23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12064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สินค้าอุปโภคบริโภค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28416" y="5120640"/>
            <a:ext cx="1883664" cy="411480"/>
          </a:xfrm>
          <a:prstGeom prst="roundRect">
            <a:avLst>
              <a:gd name="adj" fmla="val 48889"/>
            </a:avLst>
          </a:prstGeom>
          <a:solidFill>
            <a:srgbClr val="1B233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328416" y="51206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สื่อ/บันเทิง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0" y="169164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6352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ตัวอย่างหุ้นที่ใช้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22860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AAPL · MSFT · NVDA · JPM · XOM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JNJ · AMZN · KO · GOOGL · META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WMT · PG · V · MA · DIS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NFLX · AMD · INTC · BAC · CVX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635240" y="4343400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หลายอุตสาหกรรม ไม่ใช่หุ้นเดียว — ลดความเสี่ยงที่โมเดลจะเรียนรู้พฤติกรรมเฉพาะของบริษัทเดียว แทนที่จะเป็นพฤติกรรมทั่วไปของอินดิเคเตอร์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 — สิ่งที่โมเดลมองเห็น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8" name="Image 0" descr="C:\Users\NBODT\AppData\Local\Temp\claude\C--Users-NBODT-Desktop-----\2b6ff6e8-e305-4bc6-988f-ca2316229282\scratchpad\slides\icons\activity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27048" y="2020824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ret_1d / 5d / 10d / 21d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27048" y="2295144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ผลตอบแทนย้อนหลัง 1–21 วันทำการ (โมเมนตัม)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6916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3" name="Image 1" descr="C:\Users\NBODT\AppData\Local\Temp\claude\C--Users-NBODT-Desktop-----\2b6ff6e8-e305-4bc6-988f-ca2316229282\scratchpad\slides\icons\targe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17627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7768" y="2020824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rsi14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287768" y="2295144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RSI 14 วัน — ซื้อมากไปหรือขายมากไป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172968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538728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8" name="Image 2" descr="C:\Users\NBODT\AppData\Local\Temp\claude\C--Users-NBODT-Desktop-----\2b6ff6e8-e305-4bc6-988f-ca2316229282\scratchpad\slides\icons\bar-chart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657600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27048" y="350215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macd_hist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527048" y="3776472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MACD Histogram (ความแรง &amp; ทิศทางเทรนด์)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09360" y="3172968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3538728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23" name="Image 3" descr="C:\Users\NBODT\AppData\Local\Temp\claude\C--Users-NBODT-Desktop-----\2b6ff6e8-e305-4bc6-988f-ca2316229282\scratchpad\slides\icons\layers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3657600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87768" y="350215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dist_sma20 / dist_sma50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287768" y="3776472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% ระยะห่างจากเส้นค่าเฉลี่ย 20/50 วัน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654296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5020056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28" name="Image 4" descr="C:\Users\NBODT\AppData\Local\Temp\claude\C--Users-NBODT-Desktop-----\2b6ff6e8-e305-4bc6-988f-ca2316229282\scratchpad\slides\icons\zap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138928"/>
            <a:ext cx="265176" cy="26517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27048" y="4983480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vol_ratio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1527048" y="525780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ปริมาณซื้อขายวันนี้ เทียบค่าเฉลี่ย 20 วัน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309360" y="4654296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583680" y="5020056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33" name="Image 5" descr="C:\Users\NBODT\AppData\Local\Temp\claude\C--Users-NBODT-Desktop-----\2b6ff6e8-e305-4bc6-988f-ca2316229282\scratchpad\slides\icons\shield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5138928"/>
            <a:ext cx="265176" cy="26517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87768" y="4983480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volatility_20d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287768" y="525780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ส่วนเบี่ยงเบนมาตรฐานผลตอบแทนรายวัน (ความผันผวน)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คำนวณด้วยหน้าต่างข้อมูลย้อนหลังเท่านั้น (rolling / ewm) — เรื่องการออกแบบป้องกันข้อมูลรั่วไหลต่อในสไลด์ถัดไป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ป้องกันข้อมูลรั่วไหล (Data Leakage)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การตัดสินใจออกแบบที่สำคัญที่สุด — ตรงกับเกณฑ์ “ระเบียบวิธีไม่รั่วไหลข้อมูล มีเหตุผลรองรับ” ในเกณฑ์การให้คะแนน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C:\Users\NBODT\AppData\Local\Temp\claude\C--Users-NBODT-Desktop-----\2b6ff6e8-e305-4bc6-988f-ca2316229282\scratchpad\slides\icons\x-circle-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2029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แบ่งข้อมูลแบบสุ่ม 80/20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060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ข้อมูลสัปดาห์เดียวกันหลุดไปอยู่ทั้งฝั่ง train และ test อินดิเคเตอร์มีความสัมพันธ์กันในตัวเอง (autocorrelated) — โมเดลจะจำช่วง test แทนที่จะเรียนรู้ภาพรวม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78308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B23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C:\Users\NBODT\AppData\Local\Temp\claude\C--Users-NBODT-Desktop-----\2b6ff6e8-e305-4bc6-988f-ca2316229282\scratchpad\slides\icons\check-circle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2029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ตัดข้อมูลตามวันที่เดียวทั้งชุด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26060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ทุกแถวของ train เกิดก่อนทุกแถวของ test ทั้ง 20 หุ้นพร้อมกัน และเว้นช่วงกัน (embargo) เท่ากับ horizon ก่อน cutoff เพื่อไม่ให้ label ของ train ไปแตะช่วง test — เทรนจากอดีต ทดสอบกับอนาคตที่ไม่เคยเห็น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2021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60704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2026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534924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A3E635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0" y="534924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FF6B6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48640" y="5349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TRAIN  —  19,240 แถว  (ธ.ค. 2021 → ต.ค. 2025)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412480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TEST  —  4,820 แถว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86384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cutoff: 2025-10-15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การเทรนโมเดล — Baseline เทียบ XGBoost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โมเดลเชิงเส้นพื้นฐานที่สุด (standardize ฟีเจอร์ก่อน)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โมเดล tree-ensemble อีกตัว ไม่มี boosting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B23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XGBoost (ของเรา)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 horizon + hyperparameter ด้วย CV แบบเรียงตามเวลา — ใช้เฉพาะชุด train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 HORIZON — TimeSeriesSplit (4 folds + gap) บนชุด train เท่านั้น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7406640" cy="502920"/>
          </a:xfrm>
          <a:prstGeom prst="roundRect">
            <a:avLst>
              <a:gd name="adj" fmla="val 10909"/>
            </a:avLst>
          </a:prstGeom>
          <a:solidFill>
            <a:srgbClr val="1B2330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 = 1d  · max_depth=4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CV AUC 0.507  ✓ ดีที่สุด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28032"/>
            <a:ext cx="7406640" cy="502920"/>
          </a:xfrm>
          <a:prstGeom prst="roundRect">
            <a:avLst>
              <a:gd name="adj" fmla="val 10909"/>
            </a:avLst>
          </a:prstGeom>
          <a:solidFill>
            <a:srgbClr val="141A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8280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 = 5d  · max_depth=4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828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CV AUC 0.494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449824"/>
            <a:ext cx="7406640" cy="502920"/>
          </a:xfrm>
          <a:prstGeom prst="roundRect">
            <a:avLst>
              <a:gd name="adj" fmla="val 10909"/>
            </a:avLst>
          </a:prstGeom>
          <a:solidFill>
            <a:srgbClr val="141A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4498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 = 10d · max_depth=4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544982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CV AUC 0.483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3794760"/>
            <a:ext cx="3291840" cy="2423160"/>
          </a:xfrm>
          <a:prstGeom prst="roundRect">
            <a:avLst>
              <a:gd name="adj" fmla="val 3019"/>
            </a:avLst>
          </a:prstGeom>
          <a:solidFill>
            <a:srgbClr val="1B23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5953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ค่าที่ใช้จริง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43434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horizon: 1 day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max_depth: 4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learning_rate: 0.05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n_estimators: 300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subsample: 0.8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เปรียบเทียบโมเดลบนชุดทดสอบ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ความแม่นยำ (Accuracy)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01168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ROC-AUC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09360" y="201168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ทุกโมเดลใกล้เคียง baseline ที่ทายกลุ่มมากสุดอย่างเดียว (51.3%) — ไม่มีโมเดลไหนชนะชัดเจน ช่วงความเชื่อมั่น 95% ของ ROC-AUC ของ XGBoost คือ 0.488–0.520 ซึ่งครอบคลุม 0.5 จึงยังแยกจากการเดาสุ่มไม่ได้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ระยะเวลาทำนายมีผลไหม?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 3 ระยะเวลาเพื่อรายงานผลเท่านั้น — horizon หลักถูกเลือกจาก CV ในชุด train ไปแล้ว (ไม่ได้เลือกจากชุด test)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830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78308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1B23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4672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ROC-AUC ตามระยะเวลา (ชุด test)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วัน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01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0.505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2697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ช่วงความเชื่อมั่น 95%: 0.488 – 0.521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วัน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0" y="3081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0.506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34472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ช่วงความเชื่อมั่น 95%: 0.484 – 0.533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38313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 วัน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0" y="3831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0.519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41970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ช่วงความเชื่อมั่น 95%: 0.489 – 0.550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สุ่มล้วนๆ = 0.500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4846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ทุกระยะเวลา ช่วงความเชื่อมั่นครอบคลุม 0.5 — ไม่พบสัญญาณที่แยกจากการสุ่มได้ ตรงกับทฤษฎีตลาดมีประสิทธิภาพ (Market Efficiency)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โมเดลให้ความสำคัญกับอะไรบ้าง?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916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691640"/>
            <a:ext cx="3840480" cy="4572000"/>
          </a:xfrm>
          <a:prstGeom prst="roundRect">
            <a:avLst>
              <a:gd name="adj" fmla="val 1905"/>
            </a:avLst>
          </a:prstGeom>
          <a:solidFill>
            <a:srgbClr val="1B23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C:\Users\NBODT\AppData\Local\Temp\claude\C--Users-NBODT-Desktop-----\2b6ff6e8-e305-4bc6-988f-ca2316229282\scratchpad\slides\icons\target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9659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496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ข้อค้นพบสำคัญ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51460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ความสำคัญของทุกฟีเจอร์ใกล้เคียงกันหมด (0.096–0.102) ไม่มีฟีเจอร์ไหนโดดเด่น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สอดคล้องกับผลก่อนหน้า: ถ้ามีสัญญาณจริง เราควรเห็นฟีเจอร์ 1–2 ตัวสูงกว่าตัวอื่นชัดเจน แต่นี่ต้นไม้กำลังแบ่งตาม noise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ทดสอบกลยุทธ์ย้อนหลัง (เพื่อการศึกษา)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035040" cy="411480"/>
          </a:xfrm>
          <a:prstGeom prst="roundRect">
            <a:avLst>
              <a:gd name="adj" fmla="val 48889"/>
            </a:avLst>
          </a:prstGeom>
          <a:solidFill>
            <a:srgbClr val="1B2330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7" name="Image 0" descr="C:\Users\NBODT\AppData\Local\Temp\claude\C--Users-NBODT-Desktop-----\2b6ff6e8-e305-4bc6-988f-ca2316229282\scratchpad\slides\icons\alert-triangle-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80744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เพื่อการศึกษาเท่านั้น — ไม่ใช่คำแนะนำการลงทุน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กติกา: ถือหุ้นวันถัดไปเมื่อ P(ขึ้น) &gt; 0.55 นอกนั้นถือเงินสด น้ำหนักเท่ากันทั้ง 20 หุ้น เฉพาะช่วง test ไม่รวมค่าธรรมเนียม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14400" y="2788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1.13x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กลยุทธ์ตามสัญญาณโมเดล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25146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B23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629400" y="2788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1.28x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ซื้อแล้วถือ (น้ำหนักเท่ากัน)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มูลค่าจาก $1 ตลอดช่วง test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มูลค่าจาก $1 ตลอดช่วง test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1" descr="C:\Users\NBODT\AppData\Local\Temp\claude\C--Users-NBODT-Desktop-----\2b6ff6e8-e305-4bc6-988f-ca2316229282\scratchpad\slides\icons\target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93776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8016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ทำไมซื้อแล้วถือถึงชนะ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โมเดลถือหุ้นเพียง ~31% ของเวลา ขณะที่ช่วง test ตลาดโดยรวมขึ้น การอยู่ในเงินสดทำให้พลาดวันขึ้นไปหลายวัน และโมเดลไม่มีความได้เปรียบทางสถิติมาชดเชย — ความได้เปรียบทางสถิติเล็กน้อยไม่เท่ากับกลยุทธ์ที่ทำกำไรได้จริง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อภิปราย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 — สิ่งที่โมเดลนี้ยังทำไม่ได้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7" name="Image 0" descr="C:\Users\NBODT\AppData\Local\Temp\claude\C--Users-NBODT-Desktop-----\2b6ff6e8-e305-4bc6-988f-ca2316229282\scratchpad\slides\icons\alert-triangle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56232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52728" y="1700784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ไม่พบความได้เปรียบทางสถิติ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1975104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ช่วงความเชื่อมั่น 95% ของ ROC-AUC ครอบคลุม 0.5 ทุกโมเดล ทุก horizon — รายงานตามจริง ไม่ปรับแต่งให้ดูดี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633472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1" name="Image 1" descr="C:\Users\NBODT\AppData\Local\Temp\claude\C--Users-NBODT-Desktop-----\2b6ff6e8-e305-4bc6-988f-ca2316229282\scratchpad\slides\icons\databas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75234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52728" y="2596896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ไม่มีข้อมูลปัจจัยพื้นฐานหรือเศรษฐกิจมหภาค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52728" y="2871216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ไม่มีผลประกอบการ อัตราดอกเบี้ย หรือข่าวสารอยู่ในชุดฟีเจอร์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529584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5" name="Image 2" descr="C:\Users\NBODT\AppData\Local\Temp\claude\C--Users-NBODT-Desktop-----\2b6ff6e8-e305-4bc6-988f-ca2316229282\scratchpad\slides\icons\layers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648456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52728" y="349300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Survivorship Bias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52728" y="3767328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ใช้เฉพาะบริษัทใหญ่ที่ยังจดทะเบียนอยู่ — ไม่รวมหุ้นที่ถูกถอดออกจากตลาด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425696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19" name="Image 3" descr="C:\Users\NBODT\AppData\Local\Temp\claude\C--Users-NBODT-Desktop-----\2b6ff6e8-e305-4bc6-988f-ca2316229282\scratchpad\slides\icons\shield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44568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52728" y="438912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ไม่รวมต้นทุนการซื้อขาย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252728" y="4663440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การทดสอบย้อนหลังไม่ได้รวมค่าธรรมเนียม ส่วนต่างราคา หรือภาษี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rgbClr val="A3E635"/>
          </a:solidFill>
          <a:ln/>
        </p:spPr>
      </p:sp>
      <p:pic>
        <p:nvPicPr>
          <p:cNvPr id="23" name="Image 4" descr="C:\Users\NBODT\AppData\Local\Temp\claude\C--Users-NBODT-Desktop-----\2b6ff6e8-e305-4bc6-988f-ca2316229282\scratchpad\slides\icons\activity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440680"/>
            <a:ext cx="265176" cy="26517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52728" y="5285232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ตัวอย่างอิสระจริงมีน้อยกว่าจำนวนแถว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252728" y="555955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 หุ้นขยับพร้อมกันทุกวัน และ label ของวันติดกันซ้อนทับกัน จึงใช้ block bootstrap ประเมินความไม่แน่นอน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ผลกระทบและบทสรุป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เชื่อมโยงกลับสู่ Stockscope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41A2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ข้อค้นพบสำคัญ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386584"/>
            <a:ext cx="109728" cy="109728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2402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ไปป์ไลน์ไม่รั่วไหลข้อมูล: label แยกจากฟีเจอร์ มี embargo และเลือก horizon/hyperparameter จากชุด train เท่านั้น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227832"/>
            <a:ext cx="109728" cy="109728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08152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ไม่มีโมเดลไหน (รวม XGBoost) แยกจากการเดาสุ่มได้ — ช่วงความเชื่อมั่นของ AUC ครอบคลุม 0.5 ทุก horizon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069080"/>
            <a:ext cx="109728" cy="109728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92277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ความสำคัญของฟีเจอร์เกือบเท่ากันหมด ไม่มีสัญญาณเด่น — สอดคล้องกับทฤษฎีตลาดมีประสิทธิภาพ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910328"/>
            <a:ext cx="109728" cy="109728"/>
          </a:xfrm>
          <a:prstGeom prst="ellipse">
            <a:avLst/>
          </a:prstGeom>
          <a:solidFill>
            <a:srgbClr val="A3E6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476402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 “ไม่พบ” ก็เป็นข้อค้นพบ — คุณค่าของงานนี้คือวิธีประเมินที่เชื่อถือได้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B23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C:\Users\NBODT\AppData\Local\Temp\claude\C--Users-NBODT-Desktop-----\2b6ff6e8-e305-4bc6-988f-ca2316229282\scratchpad\slides\icons\arrow-right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6596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4088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ขั้นต่อไป: ต่อยอดใน Stockscope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83680" y="260604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0A0E1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812280" y="27249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 UI ในอนาคต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(ทดลอง): โอกาสขึ้น 52%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ความมั่นใจต่ำ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เป็นการประมาณค่าทางสถิติ ไม่ใช่คำแนะนำทางการเงิน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41605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เพิ่มข้อมูลที่อินดิเคเตอร์ไม่มี (งบการเงิน เศรษฐกิจมหภาค sentiment ข่าวย้อนหลัง) แล้วรันไปป์ไลน์เดิมซ้ำ — ถ้าพบความได้เปรียบจริง ค่อยแสดงในแอปเป็นค่าประมาณแบบทดลอง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· CP020003</a:t>
            </a:r>
            <a:endParaRPr lang="en-US" sz="1000" dirty="0"/>
          </a:p>
        </p:txBody>
      </p:sp>
      <p:pic>
        <p:nvPicPr>
          <p:cNvPr id="4" name="Image 0" descr="C:\Users\NBODT\AppData\Local\Temp\claude\C--Users-NBODT-Desktop-----\2b6ff6e8-e305-4bc6-988f-ca2316229282\scratchpad\slides\icons\trending-up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920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3E6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ถาม-ตอบ (Q&amp;A)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Stockscope AI  ·  CP020003 ปัญญาประดิษฐ์  ·  กลุ่ม ___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2026-10-02T07:30:44Z</dcterms:created>
  <dcterms:modified xsi:type="dcterms:W3CDTF">2026-10-02T07:30:44Z</dcterms:modified>
</cp:coreProperties>
</file>