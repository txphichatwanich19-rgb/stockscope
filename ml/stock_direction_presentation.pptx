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3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4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5F5F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B6B7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B6B7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B6B7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A3E635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Baseline</c:v>
                  </c:pt>
                  <c:pt idx="1">
                    <c:v>LogReg</c:v>
                  </c:pt>
                  <c:pt idx="2">
                    <c:v>Rand.Forest</c:v>
                  </c:pt>
                  <c:pt idx="3">
                    <c:v>XGBoost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0.5127</c:v>
                </c:pt>
                <c:pt idx="1">
                  <c:v>0.516</c:v>
                </c:pt>
                <c:pt idx="2">
                  <c:v>0.5135</c:v>
                </c:pt>
                <c:pt idx="3">
                  <c:v>0.506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0" i="0" strike="noStrike" sz="1100" u="none">
                  <a:solidFill>
                    <a:srgbClr val="F5F5F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5B6B7C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AA5B1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6"/>
          <c:min val="0.4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ROC-AUC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5F5F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B6B7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B6B7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B6B7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A3E635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Baseline</c:v>
                  </c:pt>
                  <c:pt idx="1">
                    <c:v>LogReg</c:v>
                  </c:pt>
                  <c:pt idx="2">
                    <c:v>Rand.Forest</c:v>
                  </c:pt>
                  <c:pt idx="3">
                    <c:v>XGBoost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0.5</c:v>
                </c:pt>
                <c:pt idx="1">
                  <c:v>0.5129</c:v>
                </c:pt>
                <c:pt idx="2">
                  <c:v>0.4999</c:v>
                </c:pt>
                <c:pt idx="3">
                  <c:v>0.5005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100" u="none">
                  <a:solidFill>
                    <a:srgbClr val="F5F5F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5B6B7C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AA5B1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6"/>
          <c:min val="0.4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ความแม่นยำ XGBoost</c:v>
                </c:pt>
              </c:strCache>
            </c:strRef>
          </c:tx>
          <c:spPr>
            <a:solidFill>
              <a:srgbClr val="A3E635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5F5F5"/>
                    </a:solidFill>
                    <a:latin typeface="Leelawadee U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1 วัน</c:v>
                  </c:pt>
                  <c:pt idx="1">
                    <c:v>5 วัน</c:v>
                  </c:pt>
                  <c:pt idx="2">
                    <c:v>10 วัน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0.506</c:v>
                </c:pt>
                <c:pt idx="1">
                  <c:v>0.5242</c:v>
                </c:pt>
                <c:pt idx="2">
                  <c:v>0.523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Baseline (ทายกลุ่มมากสุด)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5F5F5"/>
                    </a:solidFill>
                    <a:latin typeface="Leelawadee U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1 วัน</c:v>
                  </c:pt>
                  <c:pt idx="1">
                    <c:v>5 วัน</c:v>
                  </c:pt>
                  <c:pt idx="2">
                    <c:v>10 วัน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0.5127</c:v>
                </c:pt>
                <c:pt idx="1">
                  <c:v>0.5306</c:v>
                </c:pt>
                <c:pt idx="2">
                  <c:v>0.527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0" i="0" strike="noStrike" sz="1000" u="none">
                  <a:solidFill>
                    <a:srgbClr val="F5F5F5"/>
                  </a:solidFill>
                  <a:latin typeface="Leelawadee U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5B6B7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AA5B1"/>
                </a:solidFill>
                <a:latin typeface="Leelawadee U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6"/>
          <c:min val="0.4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AA5B1"/>
              </a:solidFill>
              <a:latin typeface="Leelawadee UI"/>
              <a:cs typeface="Leelawadee U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Importance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5F5F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B6B7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B6B7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B6B7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5B6B7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5B6B7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5B6B7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5B6B7C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5B6B7C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5B6B7C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5B6B7C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volatility_20d</c:v>
                  </c:pt>
                  <c:pt idx="1">
                    <c:v>macd_hist</c:v>
                  </c:pt>
                  <c:pt idx="2">
                    <c:v>dist_sma50</c:v>
                  </c:pt>
                  <c:pt idx="3">
                    <c:v>ret_21d</c:v>
                  </c:pt>
                  <c:pt idx="4">
                    <c:v>rsi14</c:v>
                  </c:pt>
                  <c:pt idx="5">
                    <c:v>dist_sma20</c:v>
                  </c:pt>
                  <c:pt idx="6">
                    <c:v>ret_10d</c:v>
                  </c:pt>
                  <c:pt idx="7">
                    <c:v>ret_5d</c:v>
                  </c:pt>
                  <c:pt idx="8">
                    <c:v>vol_ratio</c:v>
                  </c:pt>
                  <c:pt idx="9">
                    <c:v>ret_1d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0.0943</c:v>
                </c:pt>
                <c:pt idx="1">
                  <c:v>0.0948</c:v>
                </c:pt>
                <c:pt idx="2">
                  <c:v>0.095</c:v>
                </c:pt>
                <c:pt idx="3">
                  <c:v>0.0965</c:v>
                </c:pt>
                <c:pt idx="4">
                  <c:v>0.0974</c:v>
                </c:pt>
                <c:pt idx="5">
                  <c:v>0.0981</c:v>
                </c:pt>
                <c:pt idx="6">
                  <c:v>0.1023</c:v>
                </c:pt>
                <c:pt idx="7">
                  <c:v>0.1034</c:v>
                </c:pt>
                <c:pt idx="8">
                  <c:v>0.1069</c:v>
                </c:pt>
                <c:pt idx="9">
                  <c:v>0.1112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000" u="none">
                  <a:solidFill>
                    <a:srgbClr val="F5F5F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5B6B7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F5F5F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2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image" Target="../media/image-1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9144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3E63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STOCKSCOPE AI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2377440"/>
            <a:ext cx="8686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600"/>
              </a:lnSpc>
              <a:buNone/>
            </a:pPr>
            <a:r>
              <a:rPr lang="en-US" sz="4600" b="1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ทำนายทิศทางหุ้น</a:t>
            </a:r>
            <a:endParaRPr lang="en-US" sz="4600" dirty="0"/>
          </a:p>
          <a:p>
            <a:pPr indent="0" marL="0">
              <a:lnSpc>
                <a:spcPts val="5600"/>
              </a:lnSpc>
              <a:buNone/>
            </a:pPr>
            <a:r>
              <a:rPr lang="en-US" sz="4600" b="1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ด้วย XGBoost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16052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ไปป์ไลน์ Machine Learning แบบไม่รั่วไหลข้อมูล ต่อยอดจากแดชบอร์ดที่ใช้งานจริง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822960" y="4892040"/>
            <a:ext cx="4206240" cy="457200"/>
          </a:xfrm>
          <a:prstGeom prst="roundRect">
            <a:avLst>
              <a:gd name="adj" fmla="val 16000"/>
            </a:avLst>
          </a:prstGeom>
          <a:solidFill>
            <a:srgbClr val="141A2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60120" y="489204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กลุ่ม ___  ·  [ชื่อทีมที่นี่]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6217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CP020003 · ปัญญาประดิษฐ์ · โปรเจกต์จบภาคการศึกษา · มหาวิทยาลัยขอนแก่น 2026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778240" y="5212080"/>
            <a:ext cx="256032" cy="914400"/>
          </a:xfrm>
          <a:prstGeom prst="roundRect">
            <a:avLst>
              <a:gd name="adj" fmla="val 10714"/>
            </a:avLst>
          </a:prstGeom>
          <a:solidFill>
            <a:srgbClr val="A3E635"/>
          </a:solidFill>
          <a:ln/>
        </p:spPr>
      </p:sp>
      <p:sp>
        <p:nvSpPr>
          <p:cNvPr id="9" name="Shape 7"/>
          <p:cNvSpPr/>
          <p:nvPr/>
        </p:nvSpPr>
        <p:spPr>
          <a:xfrm>
            <a:off x="9162288" y="4663440"/>
            <a:ext cx="256032" cy="1463040"/>
          </a:xfrm>
          <a:prstGeom prst="roundRect">
            <a:avLst>
              <a:gd name="adj" fmla="val 10714"/>
            </a:avLst>
          </a:prstGeom>
          <a:solidFill>
            <a:srgbClr val="5B6B7C"/>
          </a:solidFill>
          <a:ln/>
        </p:spPr>
      </p:sp>
      <p:sp>
        <p:nvSpPr>
          <p:cNvPr id="10" name="Shape 8"/>
          <p:cNvSpPr/>
          <p:nvPr/>
        </p:nvSpPr>
        <p:spPr>
          <a:xfrm>
            <a:off x="9546336" y="5394960"/>
            <a:ext cx="256032" cy="731520"/>
          </a:xfrm>
          <a:prstGeom prst="roundRect">
            <a:avLst>
              <a:gd name="adj" fmla="val 10714"/>
            </a:avLst>
          </a:prstGeom>
          <a:solidFill>
            <a:srgbClr val="A3E635"/>
          </a:solidFill>
          <a:ln/>
        </p:spPr>
      </p:sp>
      <p:sp>
        <p:nvSpPr>
          <p:cNvPr id="11" name="Shape 9"/>
          <p:cNvSpPr/>
          <p:nvPr/>
        </p:nvSpPr>
        <p:spPr>
          <a:xfrm>
            <a:off x="9930384" y="4206240"/>
            <a:ext cx="256032" cy="1920240"/>
          </a:xfrm>
          <a:prstGeom prst="roundRect">
            <a:avLst>
              <a:gd name="adj" fmla="val 10714"/>
            </a:avLst>
          </a:prstGeom>
          <a:solidFill>
            <a:srgbClr val="A3E635"/>
          </a:solidFill>
          <a:ln/>
        </p:spPr>
      </p:sp>
      <p:sp>
        <p:nvSpPr>
          <p:cNvPr id="12" name="Shape 10"/>
          <p:cNvSpPr/>
          <p:nvPr/>
        </p:nvSpPr>
        <p:spPr>
          <a:xfrm>
            <a:off x="10314432" y="4937760"/>
            <a:ext cx="256032" cy="1188720"/>
          </a:xfrm>
          <a:prstGeom prst="roundRect">
            <a:avLst>
              <a:gd name="adj" fmla="val 10714"/>
            </a:avLst>
          </a:prstGeom>
          <a:solidFill>
            <a:srgbClr val="5B6B7C"/>
          </a:solidFill>
          <a:ln/>
        </p:spPr>
      </p:sp>
      <p:sp>
        <p:nvSpPr>
          <p:cNvPr id="13" name="Shape 11"/>
          <p:cNvSpPr/>
          <p:nvPr/>
        </p:nvSpPr>
        <p:spPr>
          <a:xfrm>
            <a:off x="10698480" y="4389120"/>
            <a:ext cx="256032" cy="1737360"/>
          </a:xfrm>
          <a:prstGeom prst="roundRect">
            <a:avLst>
              <a:gd name="adj" fmla="val 10714"/>
            </a:avLst>
          </a:prstGeom>
          <a:solidFill>
            <a:srgbClr val="A3E635"/>
          </a:solidFill>
          <a:ln/>
        </p:spPr>
      </p:sp>
      <p:sp>
        <p:nvSpPr>
          <p:cNvPr id="14" name="Shape 12"/>
          <p:cNvSpPr/>
          <p:nvPr/>
        </p:nvSpPr>
        <p:spPr>
          <a:xfrm>
            <a:off x="11082528" y="5120640"/>
            <a:ext cx="256032" cy="1005840"/>
          </a:xfrm>
          <a:prstGeom prst="roundRect">
            <a:avLst>
              <a:gd name="adj" fmla="val 10714"/>
            </a:avLst>
          </a:prstGeom>
          <a:solidFill>
            <a:srgbClr val="5B6B7C"/>
          </a:solidFill>
          <a:ln/>
        </p:spPr>
      </p:sp>
      <p:sp>
        <p:nvSpPr>
          <p:cNvPr id="15" name="Shape 13"/>
          <p:cNvSpPr/>
          <p:nvPr/>
        </p:nvSpPr>
        <p:spPr>
          <a:xfrm>
            <a:off x="11466576" y="3931920"/>
            <a:ext cx="256032" cy="2194560"/>
          </a:xfrm>
          <a:prstGeom prst="roundRect">
            <a:avLst>
              <a:gd name="adj" fmla="val 10714"/>
            </a:avLst>
          </a:prstGeom>
          <a:solidFill>
            <a:srgbClr val="A3E635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551615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Stockscope AI · CP020003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3E63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ทีมของเรา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สมาชิกในกลุ่ม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141A2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22960" y="169164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กลุ่มที่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19659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3E63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___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3017520" y="16916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ชื่อกลุ่ม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3017520" y="20116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[ชื่อทีมที่นี่]</a:t>
            </a:r>
            <a:endParaRPr lang="en-US" sz="2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743200"/>
          <a:ext cx="11064240" cy="3291840"/>
        </p:xfrm>
        <a:graphic>
          <a:graphicData uri="http://schemas.openxmlformats.org/drawingml/2006/table">
            <a:tbl>
              <a:tblPr/>
              <a:tblGrid>
                <a:gridCol w="1097280"/>
                <a:gridCol w="6309360"/>
                <a:gridCol w="365760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A3E635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#</a:t>
                      </a:r>
                      <a:endParaRPr lang="en-US" sz="13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3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A3E635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ชื่อนักศึกษา</a:t>
                      </a:r>
                      <a:endParaRPr lang="en-US" sz="13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3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A3E635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รหัสนักศึกษา</a:t>
                      </a:r>
                      <a:endParaRPr lang="en-US" sz="13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33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5F5F5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1</a:t>
                      </a:r>
                      <a:endParaRPr lang="en-US" sz="13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A0E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5F5F5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_______________________</a:t>
                      </a:r>
                      <a:endParaRPr lang="en-US" sz="13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A0E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5F5F5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_______________</a:t>
                      </a:r>
                      <a:endParaRPr lang="en-US" sz="13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A0E1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5F5F5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2</a:t>
                      </a:r>
                      <a:endParaRPr lang="en-US" sz="13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41A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5F5F5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_______________________</a:t>
                      </a:r>
                      <a:endParaRPr lang="en-US" sz="13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41A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5F5F5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_______________</a:t>
                      </a:r>
                      <a:endParaRPr lang="en-US" sz="13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41A2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5F5F5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3</a:t>
                      </a:r>
                      <a:endParaRPr lang="en-US" sz="13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A0E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5F5F5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_______________________</a:t>
                      </a:r>
                      <a:endParaRPr lang="en-US" sz="13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A0E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5F5F5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_______________</a:t>
                      </a:r>
                      <a:endParaRPr lang="en-US" sz="13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A0E1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5F5F5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4</a:t>
                      </a:r>
                      <a:endParaRPr lang="en-US" sz="13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41A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5F5F5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_______________________</a:t>
                      </a:r>
                      <a:endParaRPr lang="en-US" sz="13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41A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5F5F5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_______________</a:t>
                      </a:r>
                      <a:endParaRPr lang="en-US" sz="13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41A2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5F5F5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5</a:t>
                      </a:r>
                      <a:endParaRPr lang="en-US" sz="13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A0E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5F5F5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_______________________</a:t>
                      </a:r>
                      <a:endParaRPr lang="en-US" sz="13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A0E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5F5F5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_______________</a:t>
                      </a:r>
                      <a:endParaRPr lang="en-US" sz="13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A0E1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551615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Stockscope AI · CP020003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3E63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ที่มาและหัวข้อ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ทำไมถึงทำโปรเจกต์นี้?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00200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เราสร้าง Stockscope ไว้แล้ว — แดชบอร์ดที่คำนวณ RSI, MACD, ค่าเฉลี่ยเคลื่อนที่ และโซนแนวรับ-แนวต้าน ให้หุ้นทุกตัวแบบเรียลไทม์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74320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คำถามที่ตามมาคือสิ่งที่เราทดสอบได้จริงด้วยข้อมูลที่มีอยู่แล้ว: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3383280"/>
            <a:ext cx="6035040" cy="1554480"/>
          </a:xfrm>
          <a:prstGeom prst="roundRect">
            <a:avLst>
              <a:gd name="adj" fmla="val 4706"/>
            </a:avLst>
          </a:prstGeom>
          <a:solidFill>
            <a:srgbClr val="141A2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68680" y="3383280"/>
            <a:ext cx="5394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A3E63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“อินดิเคเตอร์เดียวกันนี้ ทำนายทิศทางราคาถัดไปได้ไหม?”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7040880" y="1691640"/>
            <a:ext cx="4572000" cy="1234440"/>
          </a:xfrm>
          <a:prstGeom prst="roundRect">
            <a:avLst>
              <a:gd name="adj" fmla="val 5926"/>
            </a:avLst>
          </a:prstGeom>
          <a:solidFill>
            <a:srgbClr val="141A2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269480" y="1947672"/>
            <a:ext cx="731520" cy="731520"/>
          </a:xfrm>
          <a:prstGeom prst="ellipse">
            <a:avLst/>
          </a:prstGeom>
          <a:solidFill>
            <a:srgbClr val="A3E635"/>
          </a:solidFill>
          <a:ln/>
        </p:spPr>
      </p:sp>
      <p:pic>
        <p:nvPicPr>
          <p:cNvPr id="12" name="Image 0" descr="C:\Users\NBODT\AppData\Local\Temp\claude\C--Users-NBODT-Desktop-----\2b6ff6e8-e305-4bc6-988f-ca2316229282\scratchpad\slides\icons\bar-chart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0" y="2130552"/>
            <a:ext cx="365760" cy="36576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8183880" y="1837944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แดชบอร์ดเรียลไทม์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8183880" y="21945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RSI · MACD · SMA · Volume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คำนวณแบบวันต่อวัน</a:t>
            </a:r>
            <a:endParaRPr lang="en-US" sz="1100" dirty="0"/>
          </a:p>
        </p:txBody>
      </p:sp>
      <p:pic>
        <p:nvPicPr>
          <p:cNvPr id="15" name="Image 1" descr="C:\Users\NBODT\AppData\Local\Temp\claude\C--Users-NBODT-Desktop-----\2b6ff6e8-e305-4bc6-988f-ca2316229282\scratchpad\slides\icons\arrow-right-mut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8280" y="2985516"/>
            <a:ext cx="182880" cy="18288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7040880" y="3227832"/>
            <a:ext cx="4572000" cy="1234440"/>
          </a:xfrm>
          <a:prstGeom prst="roundRect">
            <a:avLst>
              <a:gd name="adj" fmla="val 5926"/>
            </a:avLst>
          </a:prstGeom>
          <a:solidFill>
            <a:srgbClr val="141A2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7269480" y="3483864"/>
            <a:ext cx="731520" cy="731520"/>
          </a:xfrm>
          <a:prstGeom prst="ellipse">
            <a:avLst/>
          </a:prstGeom>
          <a:solidFill>
            <a:srgbClr val="A3E635"/>
          </a:solidFill>
          <a:ln/>
        </p:spPr>
      </p:sp>
      <p:pic>
        <p:nvPicPr>
          <p:cNvPr id="18" name="Image 2" descr="C:\Users\NBODT\AppData\Local\Temp\claude\C--Users-NBODT-Desktop-----\2b6ff6e8-e305-4bc6-988f-ca2316229282\scratchpad\slides\icons\target-dar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0" y="3666744"/>
            <a:ext cx="365760" cy="36576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8183880" y="3374136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คำถามหลัก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8183880" y="373075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ขึ้นหรือลง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ในอีก N วันข้างหน้า?</a:t>
            </a:r>
            <a:endParaRPr lang="en-US" sz="1100" dirty="0"/>
          </a:p>
        </p:txBody>
      </p:sp>
      <p:pic>
        <p:nvPicPr>
          <p:cNvPr id="21" name="Image 3" descr="C:\Users\NBODT\AppData\Local\Temp\claude\C--Users-NBODT-Desktop-----\2b6ff6e8-e305-4bc6-988f-ca2316229282\scratchpad\slides\icons\arrow-right-mut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98280" y="4521708"/>
            <a:ext cx="182880" cy="182880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7040880" y="4764024"/>
            <a:ext cx="4572000" cy="1234440"/>
          </a:xfrm>
          <a:prstGeom prst="roundRect">
            <a:avLst>
              <a:gd name="adj" fmla="val 5926"/>
            </a:avLst>
          </a:prstGeom>
          <a:solidFill>
            <a:srgbClr val="141A2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3" name="Shape 17"/>
          <p:cNvSpPr/>
          <p:nvPr/>
        </p:nvSpPr>
        <p:spPr>
          <a:xfrm>
            <a:off x="7269480" y="5020056"/>
            <a:ext cx="731520" cy="731520"/>
          </a:xfrm>
          <a:prstGeom prst="ellipse">
            <a:avLst/>
          </a:prstGeom>
          <a:solidFill>
            <a:srgbClr val="A3E635"/>
          </a:solidFill>
          <a:ln/>
        </p:spPr>
      </p:sp>
      <p:pic>
        <p:nvPicPr>
          <p:cNvPr id="24" name="Image 4" descr="C:\Users\NBODT\AppData\Local\Temp\claude\C--Users-NBODT-Desktop-----\2b6ff6e8-e305-4bc6-988f-ca2316229282\scratchpad\slides\icons\cpu-dar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0" y="5202936"/>
            <a:ext cx="365760" cy="36576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8183880" y="491032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โมเดล ML</a:t>
            </a:r>
            <a:endParaRPr lang="en-US" sz="1500" dirty="0"/>
          </a:p>
        </p:txBody>
      </p:sp>
      <p:sp>
        <p:nvSpPr>
          <p:cNvPr id="26" name="Text 19"/>
          <p:cNvSpPr txBox="1"/>
          <p:nvPr/>
        </p:nvSpPr>
        <p:spPr>
          <a:xfrm>
            <a:off x="8183880" y="526694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จำแนกสองกลุ่ม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เทรนจากข้อมูลย้อนหลัง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551615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Stockscope AI · CP020003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3E63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โจทย์ AI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มองเป็นปัญหา Machine Learning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5303520" cy="4480560"/>
          </a:xfrm>
          <a:prstGeom prst="roundRect">
            <a:avLst>
              <a:gd name="adj" fmla="val 1633"/>
            </a:avLst>
          </a:prstGeom>
          <a:solidFill>
            <a:srgbClr val="141A2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68680" y="187452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A3E63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การจำแนกแบบสองกลุ่ม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42316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F5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label_up = 1  if Close[t+N] &gt; Close[t]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5F5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label_up = 0  otherwise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324612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Input: อินดิเคเตอร์ทางเทคนิคจนถึงวันที่ 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Output: ความน่าจะเป็นที่ราคาจะสูงขึ้นในอีก N วัน</a:t>
            </a:r>
            <a:endParaRPr lang="en-US" sz="1300" dirty="0"/>
          </a:p>
        </p:txBody>
      </p:sp>
      <p:pic>
        <p:nvPicPr>
          <p:cNvPr id="10" name="Image 0" descr="C:\Users\NBODT\AppData\Local\Temp\claude\C--Users-NBODT-Desktop-----\2b6ff6e8-e305-4bc6-988f-ca2316229282\scratchpad\slides\icons\zap-li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4160520"/>
            <a:ext cx="256032" cy="256032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280160" y="4105656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เทรนเร็ว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1280160" y="4416552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รันจบในไม่กี่วินาที บนโน้ตบุ๊กหรือ Colab ฟรี</a:t>
            </a:r>
            <a:endParaRPr lang="en-US" sz="1100" dirty="0"/>
          </a:p>
        </p:txBody>
      </p:sp>
      <p:pic>
        <p:nvPicPr>
          <p:cNvPr id="13" name="Image 1" descr="C:\Users\NBODT\AppData\Local\Temp\claude\C--Users-NBODT-Desktop-----\2b6ff6e8-e305-4bc6-988f-ca2316229282\scratchpad\slides\icons\layers-li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4727448"/>
            <a:ext cx="256032" cy="256032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280160" y="4672584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เหมาะกับข้อมูลตาราง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1280160" y="498348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ฟีเจอร์ของเราคือตัวเลขอินดิเคเตอร์ ไม่ใช่รูปภาพหรือข้อความ</a:t>
            </a:r>
            <a:endParaRPr lang="en-US" sz="1100" dirty="0"/>
          </a:p>
        </p:txBody>
      </p:sp>
      <p:pic>
        <p:nvPicPr>
          <p:cNvPr id="16" name="Image 2" descr="C:\Users\NBODT\AppData\Local\Temp\claude\C--Users-NBODT-Desktop-----\2b6ff6e8-e305-4bc6-988f-ca2316229282\scratchpad\slides\icons\target-lim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5294376"/>
            <a:ext cx="256032" cy="25603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280160" y="523951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อธิบายได้</a:t>
            </a:r>
            <a:endParaRPr lang="en-US" sz="1300" dirty="0"/>
          </a:p>
        </p:txBody>
      </p:sp>
      <p:sp>
        <p:nvSpPr>
          <p:cNvPr id="18" name="Text 13"/>
          <p:cNvSpPr txBox="1"/>
          <p:nvPr/>
        </p:nvSpPr>
        <p:spPr>
          <a:xfrm>
            <a:off x="1280160" y="5550408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Feature Importance บอกได้ว่า “ทำไม” ไม่ใช่แค่ตัวเลข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6492240" y="1783080"/>
            <a:ext cx="548640" cy="548640"/>
          </a:xfrm>
          <a:prstGeom prst="ellipse">
            <a:avLst/>
          </a:prstGeom>
          <a:solidFill>
            <a:srgbClr val="1B2330"/>
          </a:solidFill>
          <a:ln w="19050">
            <a:solidFill>
              <a:srgbClr val="A3E635"/>
            </a:solidFill>
            <a:prstDash val="solid"/>
          </a:ln>
        </p:spPr>
      </p:sp>
      <p:pic>
        <p:nvPicPr>
          <p:cNvPr id="20" name="Image 3" descr="C:\Users\NBODT\AppData\Local\Temp\claude\C--Users-NBODT-Desktop-----\2b6ff6e8-e305-4bc6-988f-ca2316229282\scratchpad\slides\icons\database-lim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0" y="1920240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269480" y="1764792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ข้อมูล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7269480" y="205740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OHLCV 5 ปี, 20 หุ้น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6766560" y="2331720"/>
            <a:ext cx="0" cy="502920"/>
          </a:xfrm>
          <a:prstGeom prst="line">
            <a:avLst/>
          </a:prstGeom>
          <a:noFill/>
          <a:ln w="19050">
            <a:solidFill>
              <a:srgbClr val="5B6B7C"/>
            </a:solidFill>
            <a:prstDash val="dash"/>
          </a:ln>
        </p:spPr>
      </p:sp>
      <p:sp>
        <p:nvSpPr>
          <p:cNvPr id="24" name="Shape 18"/>
          <p:cNvSpPr/>
          <p:nvPr/>
        </p:nvSpPr>
        <p:spPr>
          <a:xfrm>
            <a:off x="6492240" y="2834640"/>
            <a:ext cx="548640" cy="548640"/>
          </a:xfrm>
          <a:prstGeom prst="ellipse">
            <a:avLst/>
          </a:prstGeom>
          <a:solidFill>
            <a:srgbClr val="1B2330"/>
          </a:solidFill>
          <a:ln w="19050">
            <a:solidFill>
              <a:srgbClr val="A3E635"/>
            </a:solidFill>
            <a:prstDash val="solid"/>
          </a:ln>
        </p:spPr>
      </p:sp>
      <p:pic>
        <p:nvPicPr>
          <p:cNvPr id="25" name="Image 4" descr="C:\Users\NBODT\AppData\Local\Temp\claude\C--Users-NBODT-Desktop-----\2b6ff6e8-e305-4bc6-988f-ca2316229282\scratchpad\slides\icons\activity-lim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9400" y="2971800"/>
            <a:ext cx="274320" cy="27432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7269480" y="2816352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ฟีเจอร์</a:t>
            </a:r>
            <a:endParaRPr lang="en-US" sz="1400" dirty="0"/>
          </a:p>
        </p:txBody>
      </p:sp>
      <p:sp>
        <p:nvSpPr>
          <p:cNvPr id="27" name="Text 20"/>
          <p:cNvSpPr txBox="1"/>
          <p:nvPr/>
        </p:nvSpPr>
        <p:spPr>
          <a:xfrm>
            <a:off x="7269480" y="310896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RSI · MACD · SMA · Vol</a:t>
            </a:r>
            <a:endParaRPr lang="en-US" sz="1100" dirty="0"/>
          </a:p>
        </p:txBody>
      </p:sp>
      <p:sp>
        <p:nvSpPr>
          <p:cNvPr id="28" name="Shape 21"/>
          <p:cNvSpPr/>
          <p:nvPr/>
        </p:nvSpPr>
        <p:spPr>
          <a:xfrm>
            <a:off x="6766560" y="3383280"/>
            <a:ext cx="0" cy="502920"/>
          </a:xfrm>
          <a:prstGeom prst="line">
            <a:avLst/>
          </a:prstGeom>
          <a:noFill/>
          <a:ln w="19050">
            <a:solidFill>
              <a:srgbClr val="5B6B7C"/>
            </a:solidFill>
            <a:prstDash val="dash"/>
          </a:ln>
        </p:spPr>
      </p:sp>
      <p:sp>
        <p:nvSpPr>
          <p:cNvPr id="29" name="Shape 22"/>
          <p:cNvSpPr/>
          <p:nvPr/>
        </p:nvSpPr>
        <p:spPr>
          <a:xfrm>
            <a:off x="6492240" y="3886200"/>
            <a:ext cx="548640" cy="548640"/>
          </a:xfrm>
          <a:prstGeom prst="ellipse">
            <a:avLst/>
          </a:prstGeom>
          <a:solidFill>
            <a:srgbClr val="1B2330"/>
          </a:solidFill>
          <a:ln w="19050">
            <a:solidFill>
              <a:srgbClr val="A3E635"/>
            </a:solidFill>
            <a:prstDash val="solid"/>
          </a:ln>
        </p:spPr>
      </p:sp>
      <p:pic>
        <p:nvPicPr>
          <p:cNvPr id="30" name="Image 5" descr="C:\Users\NBODT\AppData\Local\Temp\claude\C--Users-NBODT-Desktop-----\2b6ff6e8-e305-4bc6-988f-ca2316229282\scratchpad\slides\icons\cpu-lim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29400" y="4023360"/>
            <a:ext cx="274320" cy="27432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269480" y="3867912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โมเดล</a:t>
            </a:r>
            <a:endParaRPr lang="en-US" sz="1400" dirty="0"/>
          </a:p>
        </p:txBody>
      </p:sp>
      <p:sp>
        <p:nvSpPr>
          <p:cNvPr id="32" name="Text 24"/>
          <p:cNvSpPr txBox="1"/>
          <p:nvPr/>
        </p:nvSpPr>
        <p:spPr>
          <a:xfrm>
            <a:off x="7269480" y="416052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XGBoost classifier</a:t>
            </a:r>
            <a:endParaRPr lang="en-US" sz="1100" dirty="0"/>
          </a:p>
        </p:txBody>
      </p:sp>
      <p:sp>
        <p:nvSpPr>
          <p:cNvPr id="33" name="Shape 25"/>
          <p:cNvSpPr/>
          <p:nvPr/>
        </p:nvSpPr>
        <p:spPr>
          <a:xfrm>
            <a:off x="6766560" y="4434840"/>
            <a:ext cx="0" cy="502920"/>
          </a:xfrm>
          <a:prstGeom prst="line">
            <a:avLst/>
          </a:prstGeom>
          <a:noFill/>
          <a:ln w="19050">
            <a:solidFill>
              <a:srgbClr val="5B6B7C"/>
            </a:solidFill>
            <a:prstDash val="dash"/>
          </a:ln>
        </p:spPr>
      </p:sp>
      <p:sp>
        <p:nvSpPr>
          <p:cNvPr id="34" name="Shape 26"/>
          <p:cNvSpPr/>
          <p:nvPr/>
        </p:nvSpPr>
        <p:spPr>
          <a:xfrm>
            <a:off x="6492240" y="4937760"/>
            <a:ext cx="548640" cy="548640"/>
          </a:xfrm>
          <a:prstGeom prst="ellipse">
            <a:avLst/>
          </a:prstGeom>
          <a:solidFill>
            <a:srgbClr val="1B2330"/>
          </a:solidFill>
          <a:ln w="19050">
            <a:solidFill>
              <a:srgbClr val="A3E635"/>
            </a:solidFill>
            <a:prstDash val="solid"/>
          </a:ln>
        </p:spPr>
      </p:sp>
      <p:pic>
        <p:nvPicPr>
          <p:cNvPr id="35" name="Image 6" descr="C:\Users\NBODT\AppData\Local\Temp\claude\C--Users-NBODT-Desktop-----\2b6ff6e8-e305-4bc6-988f-ca2316229282\scratchpad\slides\icons\bar-chart-lim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29400" y="5074920"/>
            <a:ext cx="274320" cy="274320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7269480" y="4919472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ผลทำนาย</a:t>
            </a:r>
            <a:endParaRPr lang="en-US" sz="1400" dirty="0"/>
          </a:p>
        </p:txBody>
      </p:sp>
      <p:sp>
        <p:nvSpPr>
          <p:cNvPr id="37" name="Text 28"/>
          <p:cNvSpPr txBox="1"/>
          <p:nvPr/>
        </p:nvSpPr>
        <p:spPr>
          <a:xfrm>
            <a:off x="7269480" y="521208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P(ขึ้น) ใน N วัน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551615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Stockscope AI · CP020003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3E63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ชุดข้อมูลและ EDA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ชุดข้อมูล (Dataset)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2606040" cy="1280160"/>
          </a:xfrm>
          <a:prstGeom prst="roundRect">
            <a:avLst>
              <a:gd name="adj" fmla="val 5714"/>
            </a:avLst>
          </a:prstGeom>
          <a:solidFill>
            <a:srgbClr val="141A2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77240" y="182880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A3E63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20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468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spc="100" kern="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จำนวนหุ้น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337560" y="1691640"/>
            <a:ext cx="2606040" cy="1280160"/>
          </a:xfrm>
          <a:prstGeom prst="roundRect">
            <a:avLst>
              <a:gd name="adj" fmla="val 5714"/>
            </a:avLst>
          </a:prstGeom>
          <a:solidFill>
            <a:srgbClr val="141A2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3566160" y="182880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A3E63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5 ปี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3566160" y="2468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spc="100" kern="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ข้อมูลรายวัน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26480" y="1691640"/>
            <a:ext cx="2606040" cy="1280160"/>
          </a:xfrm>
          <a:prstGeom prst="roundRect">
            <a:avLst>
              <a:gd name="adj" fmla="val 5714"/>
            </a:avLst>
          </a:prstGeom>
          <a:solidFill>
            <a:srgbClr val="141A2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355080" y="182880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A3E63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25,080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6355080" y="2468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spc="100" kern="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แถวข้อมูลทั้งหมด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915400" y="1691640"/>
            <a:ext cx="2606040" cy="1280160"/>
          </a:xfrm>
          <a:prstGeom prst="roundRect">
            <a:avLst>
              <a:gd name="adj" fmla="val 5714"/>
            </a:avLst>
          </a:prstGeom>
          <a:solidFill>
            <a:srgbClr val="141A2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9144000" y="182880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A3E63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0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9144000" y="2468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spc="100" kern="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ข้อมูลขาดหาย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32004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A3E63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แหล่งข้อมูลเดียวกับที่ Stockscope ใช้งานจริง: Yahoo Finance ผ่าน yfinance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37033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ช่วงข้อมูล: 2021-10-04  →  2026-10-01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2062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กลุ่มอุตสาหกรรมที่ครอบคลุม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4572000"/>
            <a:ext cx="1527048" cy="411480"/>
          </a:xfrm>
          <a:prstGeom prst="roundRect">
            <a:avLst>
              <a:gd name="adj" fmla="val 48889"/>
            </a:avLst>
          </a:prstGeom>
          <a:solidFill>
            <a:srgbClr val="1B2330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48640" y="4572000"/>
            <a:ext cx="1527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เทคโนโลยี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2258568" y="4572000"/>
            <a:ext cx="1289304" cy="411480"/>
          </a:xfrm>
          <a:prstGeom prst="roundRect">
            <a:avLst>
              <a:gd name="adj" fmla="val 48889"/>
            </a:avLst>
          </a:prstGeom>
          <a:solidFill>
            <a:srgbClr val="1B233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2258568" y="4572000"/>
            <a:ext cx="12893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การเงิน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730752" y="4572000"/>
            <a:ext cx="1289304" cy="411480"/>
          </a:xfrm>
          <a:prstGeom prst="roundRect">
            <a:avLst>
              <a:gd name="adj" fmla="val 48889"/>
            </a:avLst>
          </a:prstGeom>
          <a:solidFill>
            <a:srgbClr val="1B233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730752" y="4572000"/>
            <a:ext cx="12893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พลังงาน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202936" y="4572000"/>
            <a:ext cx="1170432" cy="411480"/>
          </a:xfrm>
          <a:prstGeom prst="roundRect">
            <a:avLst>
              <a:gd name="adj" fmla="val 48889"/>
            </a:avLst>
          </a:prstGeom>
          <a:solidFill>
            <a:srgbClr val="1B2330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202936" y="4572000"/>
            <a:ext cx="1170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สุขภาพ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48640" y="5120640"/>
            <a:ext cx="2596896" cy="411480"/>
          </a:xfrm>
          <a:prstGeom prst="roundRect">
            <a:avLst>
              <a:gd name="adj" fmla="val 48889"/>
            </a:avLst>
          </a:prstGeom>
          <a:solidFill>
            <a:srgbClr val="1B2330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48640" y="5120640"/>
            <a:ext cx="25968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สินค้าอุปโภคบริโภค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328416" y="5120640"/>
            <a:ext cx="1883664" cy="411480"/>
          </a:xfrm>
          <a:prstGeom prst="roundRect">
            <a:avLst>
              <a:gd name="adj" fmla="val 48889"/>
            </a:avLst>
          </a:prstGeom>
          <a:solidFill>
            <a:srgbClr val="1B2330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3328416" y="5120640"/>
            <a:ext cx="1883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สื่อ/บันเทิง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7315200" y="1691640"/>
            <a:ext cx="4297680" cy="4480560"/>
          </a:xfrm>
          <a:prstGeom prst="roundRect">
            <a:avLst>
              <a:gd name="adj" fmla="val 1702"/>
            </a:avLst>
          </a:prstGeom>
          <a:solidFill>
            <a:srgbClr val="141A2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7635240" y="1920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ตัวอย่างหุ้นที่ใช้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7635240" y="2286000"/>
            <a:ext cx="3749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F5F5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AAPL · MSFT · NVDA · JPM · XOM</a:t>
            </a:r>
            <a:endParaRPr lang="en-US" sz="13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F5F5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JNJ · AMZN · KO · GOOGL · META</a:t>
            </a:r>
            <a:endParaRPr lang="en-US" sz="13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F5F5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WMT · PG · V · MA · DIS</a:t>
            </a:r>
            <a:endParaRPr lang="en-US" sz="13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F5F5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NFLX · AMD · INTC · BAC · CVX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7635240" y="4343400"/>
            <a:ext cx="3703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หลายอุตสาหกรรม ไม่ใช่หุ้นเดียว — ลดความเสี่ยงที่โมเดลจะเรียนรู้พฤติกรรมเฉพาะของบริษัทเดียว แทนที่จะเป็นพฤติกรรมทั่วไปของอินดิเคเตอร์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551615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Stockscope AI · CP020003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3E63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ระเบียบวิธี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ฟีเจอร์ — สิ่งที่โมเดลมองเห็น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5303520" cy="1280160"/>
          </a:xfrm>
          <a:prstGeom prst="roundRect">
            <a:avLst>
              <a:gd name="adj" fmla="val 5714"/>
            </a:avLst>
          </a:prstGeom>
          <a:solidFill>
            <a:srgbClr val="141A2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22960" y="2057400"/>
            <a:ext cx="502920" cy="502920"/>
          </a:xfrm>
          <a:prstGeom prst="ellipse">
            <a:avLst/>
          </a:prstGeom>
          <a:solidFill>
            <a:srgbClr val="A3E635"/>
          </a:solidFill>
          <a:ln/>
        </p:spPr>
      </p:sp>
      <p:pic>
        <p:nvPicPr>
          <p:cNvPr id="8" name="Image 0" descr="C:\Users\NBODT\AppData\Local\Temp\claude\C--Users-NBODT-Desktop-----\2b6ff6e8-e305-4bc6-988f-ca2316229282\scratchpad\slides\icons\activity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" y="2176272"/>
            <a:ext cx="265176" cy="26517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527048" y="2020824"/>
            <a:ext cx="4050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ret_1d / 5d / 10d / 21d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1527048" y="2295144"/>
            <a:ext cx="4050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ผลตอบแทนย้อนหลัง 1–21 วันทำการ (โมเมนตัม)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309360" y="1691640"/>
            <a:ext cx="5303520" cy="1280160"/>
          </a:xfrm>
          <a:prstGeom prst="roundRect">
            <a:avLst>
              <a:gd name="adj" fmla="val 5714"/>
            </a:avLst>
          </a:prstGeom>
          <a:solidFill>
            <a:srgbClr val="141A2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583680" y="2057400"/>
            <a:ext cx="502920" cy="502920"/>
          </a:xfrm>
          <a:prstGeom prst="ellipse">
            <a:avLst/>
          </a:prstGeom>
          <a:solidFill>
            <a:srgbClr val="A3E635"/>
          </a:solidFill>
          <a:ln/>
        </p:spPr>
      </p:sp>
      <p:pic>
        <p:nvPicPr>
          <p:cNvPr id="13" name="Image 1" descr="C:\Users\NBODT\AppData\Local\Temp\claude\C--Users-NBODT-Desktop-----\2b6ff6e8-e305-4bc6-988f-ca2316229282\scratchpad\slides\icons\targe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2552" y="2176272"/>
            <a:ext cx="265176" cy="265176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7287768" y="2020824"/>
            <a:ext cx="4050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rsi14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7287768" y="2295144"/>
            <a:ext cx="4050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RSI 14 วัน — ซื้อมากไปหรือขายมากไป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548640" y="3172968"/>
            <a:ext cx="5303520" cy="1280160"/>
          </a:xfrm>
          <a:prstGeom prst="roundRect">
            <a:avLst>
              <a:gd name="adj" fmla="val 5714"/>
            </a:avLst>
          </a:prstGeom>
          <a:solidFill>
            <a:srgbClr val="141A2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22960" y="3538728"/>
            <a:ext cx="502920" cy="502920"/>
          </a:xfrm>
          <a:prstGeom prst="ellipse">
            <a:avLst/>
          </a:prstGeom>
          <a:solidFill>
            <a:srgbClr val="A3E635"/>
          </a:solidFill>
          <a:ln/>
        </p:spPr>
      </p:sp>
      <p:pic>
        <p:nvPicPr>
          <p:cNvPr id="18" name="Image 2" descr="C:\Users\NBODT\AppData\Local\Temp\claude\C--Users-NBODT-Desktop-----\2b6ff6e8-e305-4bc6-988f-ca2316229282\scratchpad\slides\icons\bar-chart-dar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32" y="3657600"/>
            <a:ext cx="265176" cy="265176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527048" y="3502152"/>
            <a:ext cx="4050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macd_hist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1527048" y="3776472"/>
            <a:ext cx="4050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MACD Histogram (ความแรง &amp; ทิศทางเทรนด์)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6309360" y="3172968"/>
            <a:ext cx="5303520" cy="1280160"/>
          </a:xfrm>
          <a:prstGeom prst="roundRect">
            <a:avLst>
              <a:gd name="adj" fmla="val 5714"/>
            </a:avLst>
          </a:prstGeom>
          <a:solidFill>
            <a:srgbClr val="141A2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6583680" y="3538728"/>
            <a:ext cx="502920" cy="502920"/>
          </a:xfrm>
          <a:prstGeom prst="ellipse">
            <a:avLst/>
          </a:prstGeom>
          <a:solidFill>
            <a:srgbClr val="A3E635"/>
          </a:solidFill>
          <a:ln/>
        </p:spPr>
      </p:sp>
      <p:pic>
        <p:nvPicPr>
          <p:cNvPr id="23" name="Image 3" descr="C:\Users\NBODT\AppData\Local\Temp\claude\C--Users-NBODT-Desktop-----\2b6ff6e8-e305-4bc6-988f-ca2316229282\scratchpad\slides\icons\layers-d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2552" y="3657600"/>
            <a:ext cx="265176" cy="265176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7287768" y="3502152"/>
            <a:ext cx="4050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dist_sma20 / dist_sma50</a:t>
            </a:r>
            <a:endParaRPr lang="en-US" sz="1400" dirty="0"/>
          </a:p>
        </p:txBody>
      </p:sp>
      <p:sp>
        <p:nvSpPr>
          <p:cNvPr id="25" name="Text 19"/>
          <p:cNvSpPr txBox="1"/>
          <p:nvPr/>
        </p:nvSpPr>
        <p:spPr>
          <a:xfrm>
            <a:off x="7287768" y="3776472"/>
            <a:ext cx="4050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% ระยะห่างจากเส้นค่าเฉลี่ย 20/50 วัน</a:t>
            </a:r>
            <a:endParaRPr lang="en-US" sz="1100" dirty="0"/>
          </a:p>
        </p:txBody>
      </p:sp>
      <p:sp>
        <p:nvSpPr>
          <p:cNvPr id="26" name="Shape 20"/>
          <p:cNvSpPr/>
          <p:nvPr/>
        </p:nvSpPr>
        <p:spPr>
          <a:xfrm>
            <a:off x="548640" y="4654296"/>
            <a:ext cx="5303520" cy="1280160"/>
          </a:xfrm>
          <a:prstGeom prst="roundRect">
            <a:avLst>
              <a:gd name="adj" fmla="val 5714"/>
            </a:avLst>
          </a:prstGeom>
          <a:solidFill>
            <a:srgbClr val="141A2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7" name="Shape 21"/>
          <p:cNvSpPr/>
          <p:nvPr/>
        </p:nvSpPr>
        <p:spPr>
          <a:xfrm>
            <a:off x="822960" y="5020056"/>
            <a:ext cx="502920" cy="502920"/>
          </a:xfrm>
          <a:prstGeom prst="ellipse">
            <a:avLst/>
          </a:prstGeom>
          <a:solidFill>
            <a:srgbClr val="A3E635"/>
          </a:solidFill>
          <a:ln/>
        </p:spPr>
      </p:sp>
      <p:pic>
        <p:nvPicPr>
          <p:cNvPr id="28" name="Image 4" descr="C:\Users\NBODT\AppData\Local\Temp\claude\C--Users-NBODT-Desktop-----\2b6ff6e8-e305-4bc6-988f-ca2316229282\scratchpad\slides\icons\zap-dar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1832" y="5138928"/>
            <a:ext cx="265176" cy="265176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1527048" y="4983480"/>
            <a:ext cx="4050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vol_ratio</a:t>
            </a:r>
            <a:endParaRPr lang="en-US" sz="1400" dirty="0"/>
          </a:p>
        </p:txBody>
      </p:sp>
      <p:sp>
        <p:nvSpPr>
          <p:cNvPr id="30" name="Text 23"/>
          <p:cNvSpPr txBox="1"/>
          <p:nvPr/>
        </p:nvSpPr>
        <p:spPr>
          <a:xfrm>
            <a:off x="1527048" y="5257800"/>
            <a:ext cx="4050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ปริมาณซื้อขายวันนี้ เทียบค่าเฉลี่ย 20 วัน</a:t>
            </a:r>
            <a:endParaRPr lang="en-US" sz="1100" dirty="0"/>
          </a:p>
        </p:txBody>
      </p:sp>
      <p:sp>
        <p:nvSpPr>
          <p:cNvPr id="31" name="Shape 24"/>
          <p:cNvSpPr/>
          <p:nvPr/>
        </p:nvSpPr>
        <p:spPr>
          <a:xfrm>
            <a:off x="6309360" y="4654296"/>
            <a:ext cx="5303520" cy="1280160"/>
          </a:xfrm>
          <a:prstGeom prst="roundRect">
            <a:avLst>
              <a:gd name="adj" fmla="val 5714"/>
            </a:avLst>
          </a:prstGeom>
          <a:solidFill>
            <a:srgbClr val="141A2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32" name="Shape 25"/>
          <p:cNvSpPr/>
          <p:nvPr/>
        </p:nvSpPr>
        <p:spPr>
          <a:xfrm>
            <a:off x="6583680" y="5020056"/>
            <a:ext cx="502920" cy="502920"/>
          </a:xfrm>
          <a:prstGeom prst="ellipse">
            <a:avLst/>
          </a:prstGeom>
          <a:solidFill>
            <a:srgbClr val="A3E635"/>
          </a:solidFill>
          <a:ln/>
        </p:spPr>
      </p:sp>
      <p:pic>
        <p:nvPicPr>
          <p:cNvPr id="33" name="Image 5" descr="C:\Users\NBODT\AppData\Local\Temp\claude\C--Users-NBODT-Desktop-----\2b6ff6e8-e305-4bc6-988f-ca2316229282\scratchpad\slides\icons\shield-dark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02552" y="5138928"/>
            <a:ext cx="265176" cy="265176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7287768" y="4983480"/>
            <a:ext cx="4050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volatility_20d</a:t>
            </a:r>
            <a:endParaRPr lang="en-US" sz="1400" dirty="0"/>
          </a:p>
        </p:txBody>
      </p:sp>
      <p:sp>
        <p:nvSpPr>
          <p:cNvPr id="35" name="Text 27"/>
          <p:cNvSpPr txBox="1"/>
          <p:nvPr/>
        </p:nvSpPr>
        <p:spPr>
          <a:xfrm>
            <a:off x="7287768" y="5257800"/>
            <a:ext cx="4050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ส่วนเบี่ยงเบนมาตรฐานผลตอบแทนรายวัน (ความผันผวน)</a:t>
            </a:r>
            <a:endParaRPr lang="en-US" sz="1100" dirty="0"/>
          </a:p>
        </p:txBody>
      </p:sp>
      <p:sp>
        <p:nvSpPr>
          <p:cNvPr id="36" name="Text 28"/>
          <p:cNvSpPr txBox="1"/>
          <p:nvPr/>
        </p:nvSpPr>
        <p:spPr>
          <a:xfrm>
            <a:off x="548640" y="61722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คำนวณด้วยหน้าต่างข้อมูลย้อนหลังเท่านั้น (rolling / ewm) — เรื่องการออกแบบป้องกันข้อมูลรั่วไหลต่อในสไลด์ถัดไป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551615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Stockscope AI · CP020003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3E63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ระเบียบวิธี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ป้องกันข้อมูลรั่วไหล (Data Leakage)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234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3E63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การตัดสินใจออกแบบที่สำคัญที่สุด — ตรงกับเกณฑ์ “ระเบียบวิธีไม่รั่วไหลข้อมูล มีเหตุผลรองรับ” ในเกณฑ์การให้คะแนน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5349240" cy="2743200"/>
          </a:xfrm>
          <a:prstGeom prst="roundRect">
            <a:avLst>
              <a:gd name="adj" fmla="val 2667"/>
            </a:avLst>
          </a:prstGeom>
          <a:solidFill>
            <a:srgbClr val="141A2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8" name="Image 0" descr="C:\Users\NBODT\AppData\Local\Temp\claude\C--Users-NBODT-Desktop-----\2b6ff6e8-e305-4bc6-988f-ca2316229282\scratchpad\slides\icons\x-circle-cor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011680"/>
            <a:ext cx="365760" cy="3657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325880" y="202996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แบ่งข้อมูลแบบสุ่ม 80/20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2606040"/>
            <a:ext cx="4754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ข้อมูลสัปดาห์เดียวกันหลุดไปอยู่ทั้งฝั่ง train และ test อินดิเคเตอร์มีความสัมพันธ์กันในตัวเอง (autocorrelated) — โมเดลจะจำช่วง test แทนที่จะเรียนรู้ภาพรวม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263640" y="1783080"/>
            <a:ext cx="5349240" cy="2743200"/>
          </a:xfrm>
          <a:prstGeom prst="roundRect">
            <a:avLst>
              <a:gd name="adj" fmla="val 2667"/>
            </a:avLst>
          </a:prstGeom>
          <a:solidFill>
            <a:srgbClr val="1B2330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2" name="Image 1" descr="C:\Users\NBODT\AppData\Local\Temp\claude\C--Users-NBODT-Desktop-----\2b6ff6e8-e305-4bc6-988f-ca2316229282\scratchpad\slides\icons\check-circle-li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201168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040880" y="202996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3E63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ตัดข้อมูลตามวันที่เดียวทั้งชุด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6537960" y="2606040"/>
            <a:ext cx="4754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ทุกแถวของ train เกิดก่อนทุกแถวของ test ทั้ง 20 หุ้นพร้อมกัน และตัดแถว train ที่ label (วันที่เป้าหมาย) ไปถึงช่วง test ออก (purge) — เทรนจากอดีต ทดสอบกับอนาคตที่ไม่เคยเห็น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640080" y="50292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2021</a:t>
            </a:r>
            <a:endParaRPr lang="en-US" sz="1100" dirty="0"/>
          </a:p>
        </p:txBody>
      </p:sp>
      <p:sp>
        <p:nvSpPr>
          <p:cNvPr id="16" name="Text 12"/>
          <p:cNvSpPr txBox="1"/>
          <p:nvPr/>
        </p:nvSpPr>
        <p:spPr>
          <a:xfrm>
            <a:off x="10607040" y="50292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2026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548640" y="5349240"/>
            <a:ext cx="7863840" cy="502920"/>
          </a:xfrm>
          <a:prstGeom prst="roundRect">
            <a:avLst>
              <a:gd name="adj" fmla="val 10909"/>
            </a:avLst>
          </a:prstGeom>
          <a:solidFill>
            <a:srgbClr val="A3E635"/>
          </a:solidFill>
          <a:ln/>
        </p:spPr>
      </p:sp>
      <p:sp>
        <p:nvSpPr>
          <p:cNvPr id="18" name="Shape 14"/>
          <p:cNvSpPr/>
          <p:nvPr/>
        </p:nvSpPr>
        <p:spPr>
          <a:xfrm>
            <a:off x="8412480" y="5349240"/>
            <a:ext cx="3200400" cy="502920"/>
          </a:xfrm>
          <a:prstGeom prst="roundRect">
            <a:avLst>
              <a:gd name="adj" fmla="val 10909"/>
            </a:avLst>
          </a:prstGeom>
          <a:solidFill>
            <a:srgbClr val="FF6B6B"/>
          </a:solidFill>
          <a:ln/>
        </p:spPr>
      </p:sp>
      <p:sp>
        <p:nvSpPr>
          <p:cNvPr id="19" name="Text 15"/>
          <p:cNvSpPr txBox="1"/>
          <p:nvPr/>
        </p:nvSpPr>
        <p:spPr>
          <a:xfrm>
            <a:off x="548640" y="53492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0E14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TRAIN  —  19,240 แถว  (ธ.ค. 2021 → ต.ค. 2025)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8412480" y="534924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0E14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TEST  —  4,820 แถว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7863840" y="59893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cutoff: 2025-10-15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551615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Stockscope AI · CP020003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3E63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ระเบียบวิธี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การเทรนโมเดล — Baseline เทียบ XGBoost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737360"/>
            <a:ext cx="3566160" cy="1737360"/>
          </a:xfrm>
          <a:prstGeom prst="roundRect">
            <a:avLst>
              <a:gd name="adj" fmla="val 4211"/>
            </a:avLst>
          </a:prstGeom>
          <a:solidFill>
            <a:srgbClr val="141A2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22960" y="19202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Logistic Regression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42316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โมเดลเชิงเส้นพื้นฐานที่สุด (standardize ฟีเจอร์ก่อน)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297680" y="1737360"/>
            <a:ext cx="3566160" cy="1737360"/>
          </a:xfrm>
          <a:prstGeom prst="roundRect">
            <a:avLst>
              <a:gd name="adj" fmla="val 4211"/>
            </a:avLst>
          </a:prstGeom>
          <a:solidFill>
            <a:srgbClr val="141A2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4572000" y="19202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Random Forest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242316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โมเดล tree-ensemble อีกตัว ไม่มี boosting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46720" y="1737360"/>
            <a:ext cx="3566160" cy="1737360"/>
          </a:xfrm>
          <a:prstGeom prst="roundRect">
            <a:avLst>
              <a:gd name="adj" fmla="val 4211"/>
            </a:avLst>
          </a:prstGeom>
          <a:solidFill>
            <a:srgbClr val="1B2330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321040" y="19202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3E63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XGBoost (ของเรา)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242316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เลือก horizon + hyperparameter ด้วย CV ตามวันที่ + purge — ใช้เฉพาะชุด train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794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เลือก HORIZON — TimeSeriesSplit (4 folds ตามวันที่ + purge) บนชุด train เท่านั้น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4206240"/>
            <a:ext cx="7406640" cy="502920"/>
          </a:xfrm>
          <a:prstGeom prst="roundRect">
            <a:avLst>
              <a:gd name="adj" fmla="val 10909"/>
            </a:avLst>
          </a:prstGeom>
          <a:solidFill>
            <a:srgbClr val="1B2330"/>
          </a:solidFill>
          <a:ln w="12700">
            <a:solidFill>
              <a:srgbClr val="A3E63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420624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F5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horizon = 1d  · max_depth=3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754880" y="42062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3E63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CV AUC 0.507  ✓ ดีที่สุด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4828032"/>
            <a:ext cx="7406640" cy="502920"/>
          </a:xfrm>
          <a:prstGeom prst="roundRect">
            <a:avLst>
              <a:gd name="adj" fmla="val 10909"/>
            </a:avLst>
          </a:prstGeom>
          <a:solidFill>
            <a:srgbClr val="141A23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77240" y="4828032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F5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horizon = 5d  · max_depth=4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754880" y="482803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CV AUC 0.496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5449824"/>
            <a:ext cx="7406640" cy="502920"/>
          </a:xfrm>
          <a:prstGeom prst="roundRect">
            <a:avLst>
              <a:gd name="adj" fmla="val 10909"/>
            </a:avLst>
          </a:prstGeom>
          <a:solidFill>
            <a:srgbClr val="141A23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77240" y="5449824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F5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horizon = 10d · max_depth=4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4754880" y="5449824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CV AUC 0.482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321040" y="3794760"/>
            <a:ext cx="3291840" cy="2423160"/>
          </a:xfrm>
          <a:prstGeom prst="roundRect">
            <a:avLst>
              <a:gd name="adj" fmla="val 3019"/>
            </a:avLst>
          </a:prstGeom>
          <a:solidFill>
            <a:srgbClr val="1B2330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8595360" y="40233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ค่าที่ใช้จริง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8595360" y="4343400"/>
            <a:ext cx="2743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A3E6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horizon: 1 day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A3E6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max_depth: 3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A3E6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learning_rate: 0.05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A3E6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n_estimators: 200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A3E6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subsample: 0.8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551615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Stockscope AI · CP020003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3E63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ผลลัพธ์และการประเมิน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เปรียบเทียบโมเดลบนชุดทดสอบ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ความแม่นยำ (Accuracy)</a:t>
            </a:r>
            <a:endParaRPr lang="en-US" sz="14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48640" y="2011680"/>
          <a:ext cx="530352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309360" y="169164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ROC-AUC</a:t>
            </a:r>
            <a:endParaRPr lang="en-US" sz="140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6309360" y="2011680"/>
          <a:ext cx="530352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Shape 6"/>
          <p:cNvSpPr/>
          <p:nvPr/>
        </p:nvSpPr>
        <p:spPr>
          <a:xfrm>
            <a:off x="548640" y="5074920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141A2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868680" y="5074920"/>
            <a:ext cx="10424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ทุกโมเดลใกล้เคียง baseline ที่ทายกลุ่มมากสุดอย่างเดียว (51.3%) — ไม่มีโมเดลไหนชนะชัดเจน ช่วงความเชื่อมั่น 95% ของ ROC-AUC ของ XGBoost คือ 0.485–0.516 ครอบคลุม 0.5 จึงยังไม่พบว่าดีกว่าการเดาสุ่ม (แต่ไม่ได้พิสูจน์ว่าเท่ากับ 0.5 พอดี)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551615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Stockscope AI · CP020003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3E63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ผลลัพธ์และการประเมิน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ระยะเวลาทำนายมีผลไหม?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2344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ทดสอบ 3 ระยะเวลาเพื่อรายงานผลเท่านั้น — horizon หลักถูกเลือกจาก CV ในชุด train ไปแล้ว (ไม่ได้เลือกจากชุด test)</a:t>
            </a:r>
            <a:endParaRPr lang="en-US" sz="13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48640" y="1783080"/>
          <a:ext cx="694944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7772400" y="1783080"/>
            <a:ext cx="3840480" cy="3931920"/>
          </a:xfrm>
          <a:prstGeom prst="roundRect">
            <a:avLst>
              <a:gd name="adj" fmla="val 1905"/>
            </a:avLst>
          </a:prstGeom>
          <a:solidFill>
            <a:srgbClr val="1B2330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046720" y="19659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ROC-AUC ตามระยะเวลา (ชุด test)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8046720" y="23317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 วัน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9601200" y="23317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0.5005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8046720" y="269748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ช่วงความเชื่อมั่น 95%: 0.485 – 0.516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8046720" y="308152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5 วัน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0" y="308152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0.5076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8046720" y="3447288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ช่วงความเชื่อมั่น 95%: 0.485 – 0.534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8046720" y="3831336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10 วัน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9601200" y="38313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0.5225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8046720" y="4197096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ช่วงความเชื่อมั่น 95%: 0.492 – 0.556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8046720" y="45720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B7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สุ่มล้วนๆ = 0.500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8046720" y="484632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ทุกระยะเวลา ช่วงความเชื่อมั่นครอบคลุม 0.5 — ยังไม่พบสัญญาณที่ดีกว่าการสุ่ม สอดคล้องกับทฤษฎีตลาดมีประสิทธิภาพ (แต่ไม่ได้พิสูจน์)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551615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Stockscope AI · CP020003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3E63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ผลลัพธ์และการประเมิน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โมเดลให้ความสำคัญกับอะไรบ้าง?</a:t>
            </a:r>
            <a:endParaRPr lang="en-US" sz="32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691640"/>
          <a:ext cx="694944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7772400" y="1691640"/>
            <a:ext cx="3840480" cy="4572000"/>
          </a:xfrm>
          <a:prstGeom prst="roundRect">
            <a:avLst>
              <a:gd name="adj" fmla="val 1905"/>
            </a:avLst>
          </a:prstGeom>
          <a:solidFill>
            <a:srgbClr val="1B2330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8" name="Image 0" descr="C:\Users\NBODT\AppData\Local\Temp\claude\C--Users-NBODT-Desktop-----\2b6ff6e8-e305-4bc6-988f-ca2316229282\scratchpad\slides\icons\target-li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1965960"/>
            <a:ext cx="365760" cy="36576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549640" y="20116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3E63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ข้อค้นพบสำคัญ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8046720" y="2514600"/>
            <a:ext cx="32918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ความสำคัญของทุกฟีเจอร์อยู่ในช่วงแคบ (0.094–0.111) ไม่มีฟีเจอร์ไหนโดดเด่นชัดเจน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ค่านี้แค่อธิบายว่าโมเดลใช้อะไร ไม่ได้พิสูจน์ว่าฟีเจอร์ใดทำให้ราคาขยับ — หลักฐานหลักมาจากการทดสอบบนชุด test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551615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Stockscope AI · CP020003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3E63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ผลลัพธ์และการประเมิน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ทดสอบกลยุทธ์ย้อนหลัง (เพื่อการศึกษา)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48640" y="1280160"/>
            <a:ext cx="6035040" cy="411480"/>
          </a:xfrm>
          <a:prstGeom prst="roundRect">
            <a:avLst>
              <a:gd name="adj" fmla="val 48889"/>
            </a:avLst>
          </a:prstGeom>
          <a:solidFill>
            <a:srgbClr val="1B2330"/>
          </a:solidFill>
          <a:ln w="12700">
            <a:solidFill>
              <a:srgbClr val="FF6B6B"/>
            </a:solidFill>
            <a:prstDash val="solid"/>
          </a:ln>
        </p:spPr>
      </p:sp>
      <p:pic>
        <p:nvPicPr>
          <p:cNvPr id="7" name="Image 0" descr="C:\Users\NBODT\AppData\Local\Temp\claude\C--Users-NBODT-Desktop-----\2b6ff6e8-e305-4bc6-988f-ca2316229282\scratchpad\slides\icons\alert-triangle-cor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80744"/>
            <a:ext cx="219456" cy="21945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51560" y="128016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เพื่อการศึกษาเท่านั้น — ไม่ใช่คำแนะนำการลงทุน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กติกา: ใช้โมเดล 1 วัน ถือหุ้นวันถัดไปเมื่อ P(ขึ้น) &gt; 0.55 นอกนั้นถือเงินสด น้ำหนักเท่ากันทั้ง 20 หุ้น ช่วง test ไม่รวมค่าธรรมเนียม และใช้ราคาปิดวันเดียวกัน (ผลจริงน่าจะแย่กว่านี้)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48640" y="2514600"/>
            <a:ext cx="5349240" cy="1920240"/>
          </a:xfrm>
          <a:prstGeom prst="roundRect">
            <a:avLst>
              <a:gd name="adj" fmla="val 3810"/>
            </a:avLst>
          </a:prstGeom>
          <a:solidFill>
            <a:srgbClr val="141A2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914400" y="278892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1.08x</a:t>
            </a:r>
            <a:endParaRPr lang="en-US" sz="4400" dirty="0"/>
          </a:p>
        </p:txBody>
      </p:sp>
      <p:sp>
        <p:nvSpPr>
          <p:cNvPr id="12" name="Text 9"/>
          <p:cNvSpPr txBox="1"/>
          <p:nvPr/>
        </p:nvSpPr>
        <p:spPr>
          <a:xfrm>
            <a:off x="914400" y="34290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spc="100" kern="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กลยุทธ์ตามสัญญาณโมเดล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63640" y="2514600"/>
            <a:ext cx="5349240" cy="1920240"/>
          </a:xfrm>
          <a:prstGeom prst="roundRect">
            <a:avLst>
              <a:gd name="adj" fmla="val 3810"/>
            </a:avLst>
          </a:prstGeom>
          <a:solidFill>
            <a:srgbClr val="1B2330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6629400" y="278892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A3E63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1.28x</a:t>
            </a:r>
            <a:endParaRPr lang="en-US" sz="4400" dirty="0"/>
          </a:p>
        </p:txBody>
      </p:sp>
      <p:sp>
        <p:nvSpPr>
          <p:cNvPr id="15" name="Text 12"/>
          <p:cNvSpPr txBox="1"/>
          <p:nvPr/>
        </p:nvSpPr>
        <p:spPr>
          <a:xfrm>
            <a:off x="6629400" y="34290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spc="100" kern="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ซื้อแล้วถือ (น้ำหนักเท่ากัน)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914400" y="37947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B7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มูลค่าจาก $1 ตลอดช่วง test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6629400" y="37947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B7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มูลค่าจาก $1 ตลอดช่วง test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48640" y="4709160"/>
            <a:ext cx="11064240" cy="1417320"/>
          </a:xfrm>
          <a:prstGeom prst="roundRect">
            <a:avLst>
              <a:gd name="adj" fmla="val 5161"/>
            </a:avLst>
          </a:prstGeom>
          <a:solidFill>
            <a:srgbClr val="141A2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9" name="Image 1" descr="C:\Users\NBODT\AppData\Local\Temp\claude\C--Users-NBODT-Desktop-----\2b6ff6e8-e305-4bc6-988f-ca2316229282\scratchpad\slides\icons\target-li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937760"/>
            <a:ext cx="320040" cy="320040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1280160" y="49377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ทำไมซื้อแล้วถือถึงชนะ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822960" y="530352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โมเดลถือหุ้นเพียง ~20% ของเวลา ขณะที่ช่วง test ตลาดโดยรวมขึ้น การอยู่ในเงินสดทำให้พลาดวันขึ้นไปหลายวัน และโมเดลไม่มีความได้เปรียบทางสถิติมาชดเชย — ความได้เปรียบทางสถิติเล็กน้อยไม่เท่ากับกลยุทธ์ที่ทำกำไรได้จริง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551615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Stockscope AI · CP020003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3E63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อภิปราย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ข้อจำกัด — สิ่งที่โมเดลนี้ยังทำไม่ได้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737360"/>
            <a:ext cx="502920" cy="502920"/>
          </a:xfrm>
          <a:prstGeom prst="ellipse">
            <a:avLst/>
          </a:prstGeom>
          <a:solidFill>
            <a:srgbClr val="A3E635"/>
          </a:solidFill>
          <a:ln/>
        </p:spPr>
      </p:sp>
      <p:pic>
        <p:nvPicPr>
          <p:cNvPr id="7" name="Image 0" descr="C:\Users\NBODT\AppData\Local\Temp\claude\C--Users-NBODT-Desktop-----\2b6ff6e8-e305-4bc6-988f-ca2316229282\scratchpad\slides\icons\alert-triangle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1856232"/>
            <a:ext cx="265176" cy="26517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252728" y="1700784"/>
            <a:ext cx="10177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ไม่พบความได้เปรียบทางสถิติ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252728" y="1975104"/>
            <a:ext cx="10177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ช่วงความเชื่อมั่น 95% ของ ROC-AUC ครอบคลุม 0.5 ทุกโมเดล ทุก horizon — รายงานตามจริง ไม่ปรับแต่งให้ดูดี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48640" y="2633472"/>
            <a:ext cx="502920" cy="502920"/>
          </a:xfrm>
          <a:prstGeom prst="ellipse">
            <a:avLst/>
          </a:prstGeom>
          <a:solidFill>
            <a:srgbClr val="A3E635"/>
          </a:solidFill>
          <a:ln/>
        </p:spPr>
      </p:sp>
      <p:pic>
        <p:nvPicPr>
          <p:cNvPr id="11" name="Image 1" descr="C:\Users\NBODT\AppData\Local\Temp\claude\C--Users-NBODT-Desktop-----\2b6ff6e8-e305-4bc6-988f-ca2316229282\scratchpad\slides\icons\database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2752344"/>
            <a:ext cx="265176" cy="26517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252728" y="2596896"/>
            <a:ext cx="10177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ไม่มีข้อมูลปัจจัยพื้นฐานหรือเศรษฐกิจมหภาค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1252728" y="2871216"/>
            <a:ext cx="10177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ไม่มีผลประกอบการ อัตราดอกเบี้ย หรือข่าวสารอยู่ในชุดฟีเจอร์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48640" y="3529584"/>
            <a:ext cx="502920" cy="502920"/>
          </a:xfrm>
          <a:prstGeom prst="ellipse">
            <a:avLst/>
          </a:prstGeom>
          <a:solidFill>
            <a:srgbClr val="A3E635"/>
          </a:solidFill>
          <a:ln/>
        </p:spPr>
      </p:sp>
      <p:pic>
        <p:nvPicPr>
          <p:cNvPr id="15" name="Image 2" descr="C:\Users\NBODT\AppData\Local\Temp\claude\C--Users-NBODT-Desktop-----\2b6ff6e8-e305-4bc6-988f-ca2316229282\scratchpad\slides\icons\layers-dar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" y="3648456"/>
            <a:ext cx="265176" cy="26517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252728" y="3493008"/>
            <a:ext cx="10177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Survivorship Bias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1252728" y="3767328"/>
            <a:ext cx="10177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ใช้เฉพาะบริษัทใหญ่ที่ยังจดทะเบียนอยู่ — ไม่รวมหุ้นที่ถูกถอดออกจากตลาด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548640" y="4425696"/>
            <a:ext cx="502920" cy="502920"/>
          </a:xfrm>
          <a:prstGeom prst="ellipse">
            <a:avLst/>
          </a:prstGeom>
          <a:solidFill>
            <a:srgbClr val="A3E635"/>
          </a:solidFill>
          <a:ln/>
        </p:spPr>
      </p:sp>
      <p:pic>
        <p:nvPicPr>
          <p:cNvPr id="19" name="Image 3" descr="C:\Users\NBODT\AppData\Local\Temp\claude\C--Users-NBODT-Desktop-----\2b6ff6e8-e305-4bc6-988f-ca2316229282\scratchpad\slides\icons\shield-d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" y="4544568"/>
            <a:ext cx="265176" cy="26517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252728" y="4389120"/>
            <a:ext cx="10177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ไม่รวมต้นทุนการซื้อขาย</a:t>
            </a:r>
            <a:endParaRPr lang="en-US" sz="1500" dirty="0"/>
          </a:p>
        </p:txBody>
      </p:sp>
      <p:sp>
        <p:nvSpPr>
          <p:cNvPr id="21" name="Text 15"/>
          <p:cNvSpPr txBox="1"/>
          <p:nvPr/>
        </p:nvSpPr>
        <p:spPr>
          <a:xfrm>
            <a:off x="1252728" y="4663440"/>
            <a:ext cx="10177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การทดสอบย้อนหลังไม่ได้รวมค่าธรรมเนียม ส่วนต่างราคา หรือภาษี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548640" y="5321808"/>
            <a:ext cx="502920" cy="502920"/>
          </a:xfrm>
          <a:prstGeom prst="ellipse">
            <a:avLst/>
          </a:prstGeom>
          <a:solidFill>
            <a:srgbClr val="A3E635"/>
          </a:solidFill>
          <a:ln/>
        </p:spPr>
      </p:sp>
      <p:pic>
        <p:nvPicPr>
          <p:cNvPr id="23" name="Image 4" descr="C:\Users\NBODT\AppData\Local\Temp\claude\C--Users-NBODT-Desktop-----\2b6ff6e8-e305-4bc6-988f-ca2316229282\scratchpad\slides\icons\activity-dar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7512" y="5440680"/>
            <a:ext cx="265176" cy="265176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252728" y="5285232"/>
            <a:ext cx="10177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ตัวอย่างอิสระจริงมีน้อยกว่าจำนวนแถว</a:t>
            </a:r>
            <a:endParaRPr lang="en-US" sz="1500" dirty="0"/>
          </a:p>
        </p:txBody>
      </p:sp>
      <p:sp>
        <p:nvSpPr>
          <p:cNvPr id="25" name="Text 18"/>
          <p:cNvSpPr txBox="1"/>
          <p:nvPr/>
        </p:nvSpPr>
        <p:spPr>
          <a:xfrm>
            <a:off x="1252728" y="5559552"/>
            <a:ext cx="10177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A5B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20 หุ้นขยับพร้อมกันทุกวัน และ label ของวันติดกันซ้อนทับกัน จึงใช้ block bootstrap ประเมินความไม่แน่นอน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551615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Stockscope AI · CP020003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3E63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ผลกระทบและบทสรุป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เชื่อมโยงกลับสู่ Stockscope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5349240" cy="4434840"/>
          </a:xfrm>
          <a:prstGeom prst="roundRect">
            <a:avLst>
              <a:gd name="adj" fmla="val 1649"/>
            </a:avLst>
          </a:prstGeom>
          <a:solidFill>
            <a:srgbClr val="141A23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68680" y="1920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A3E63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ข้อค้นพบสำคัญ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68680" y="2386584"/>
            <a:ext cx="109728" cy="109728"/>
          </a:xfrm>
          <a:prstGeom prst="ellipse">
            <a:avLst/>
          </a:prstGeom>
          <a:solidFill>
            <a:srgbClr val="A3E635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143000" y="2240280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ไปป์ไลน์ไม่รั่วไหลข้อมูล: label แยกจากฟีเจอร์ มี purge และเลือก horizon/hyperparameter จากชุด train เท่านั้น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68680" y="3227832"/>
            <a:ext cx="109728" cy="109728"/>
          </a:xfrm>
          <a:prstGeom prst="ellipse">
            <a:avLst/>
          </a:prstGeom>
          <a:solidFill>
            <a:srgbClr val="A3E63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143000" y="3081528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ยังไม่พบว่าโมเดลไหน (รวม XGBoost) ดีกว่าการเดาสุ่ม — ช่วงความเชื่อมั่นของ AUC ครอบคลุม 0.5 ทุก horizon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68680" y="4069080"/>
            <a:ext cx="109728" cy="109728"/>
          </a:xfrm>
          <a:prstGeom prst="ellipse">
            <a:avLst/>
          </a:prstGeom>
          <a:solidFill>
            <a:srgbClr val="A3E63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143000" y="3922776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ความสำคัญของฟีเจอร์อยู่ในช่วงแคบ ไม่มีตัวเด่น — สอดคล้องกับ (แต่ไม่ได้พิสูจน์) ทฤษฎีตลาดมีประสิทธิภาพ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68680" y="4910328"/>
            <a:ext cx="109728" cy="109728"/>
          </a:xfrm>
          <a:prstGeom prst="ellipse">
            <a:avLst/>
          </a:prstGeom>
          <a:solidFill>
            <a:srgbClr val="A3E635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143000" y="4764024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ผลลัพธ์ “ไม่พบ” ก็เป็นข้อค้นพบ — คุณค่าของงานนี้คือวิธีประเมินที่เชื่อถือได้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63640" y="1691640"/>
            <a:ext cx="5349240" cy="4434840"/>
          </a:xfrm>
          <a:prstGeom prst="roundRect">
            <a:avLst>
              <a:gd name="adj" fmla="val 1649"/>
            </a:avLst>
          </a:prstGeom>
          <a:solidFill>
            <a:srgbClr val="1B2330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7" name="Image 0" descr="C:\Users\NBODT\AppData\Local\Temp\claude\C--Users-NBODT-Desktop-----\2b6ff6e8-e305-4bc6-988f-ca2316229282\scratchpad\slides\icons\arrow-right-li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1965960"/>
            <a:ext cx="320040" cy="320040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7040880" y="196596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3E63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ขั้นต่อไป: ต่อยอดใน Stockscope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6583680" y="2606040"/>
            <a:ext cx="4663440" cy="1371600"/>
          </a:xfrm>
          <a:prstGeom prst="roundRect">
            <a:avLst>
              <a:gd name="adj" fmla="val 5333"/>
            </a:avLst>
          </a:prstGeom>
          <a:solidFill>
            <a:srgbClr val="0A0E14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6812280" y="2724912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3E63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ตัวอย่าง UI ในอนาคต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A3E63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AI (ทดลอง): โอกาสขึ้น 52%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A3E63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ความมั่นใจต่ำ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6812280" y="361188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B7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เป็นการประมาณค่าทางสถิติ ไม่ใช่คำแนะนำทางการเงิน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6583680" y="4160520"/>
            <a:ext cx="4663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เพิ่มข้อมูลที่อินดิเคเตอร์ไม่มี (งบการเงิน เศรษฐกิจมหภาค sentiment ข่าวย้อนหลัง) แล้วรันไปป์ไลน์เดิมซ้ำ — ถ้าพบความได้เปรียบจริง ค่อยแสดงในแอปเป็นค่าประมาณแบบทดลอง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551615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Stockscope AI · CP020003</a:t>
            </a:r>
            <a:endParaRPr lang="en-US" sz="1000" dirty="0"/>
          </a:p>
        </p:txBody>
      </p:sp>
      <p:pic>
        <p:nvPicPr>
          <p:cNvPr id="4" name="Image 0" descr="C:\Users\NBODT\AppData\Local\Temp\claude\C--Users-NBODT-Desktop-----\2b6ff6e8-e305-4bc6-988f-ca2316229282\scratchpad\slides\icons\trending-up-li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75808" y="1920240"/>
            <a:ext cx="640080" cy="6400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0" y="2743200"/>
            <a:ext cx="12191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5F5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ขอบคุณ</a:t>
            </a:r>
            <a:endParaRPr lang="en-US" sz="4800" dirty="0"/>
          </a:p>
        </p:txBody>
      </p:sp>
      <p:sp>
        <p:nvSpPr>
          <p:cNvPr id="6" name="Text 3"/>
          <p:cNvSpPr txBox="1"/>
          <p:nvPr/>
        </p:nvSpPr>
        <p:spPr>
          <a:xfrm>
            <a:off x="0" y="365760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3E63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ถาม-ตอบ (Q&amp;A)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0" y="603504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Stockscope AI  ·  CP020003 ปัญญาประดิษฐ์  ·  กลุ่ม ___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2026-10-02T08:28:15Z</dcterms:created>
  <dcterms:modified xsi:type="dcterms:W3CDTF">2026-10-02T08:28:15Z</dcterms:modified>
</cp:coreProperties>
</file>