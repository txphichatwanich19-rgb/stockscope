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5F5F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3E635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Baseline</c:v>
                  </c:pt>
                  <c:pt idx="1">
                    <c:v>LogReg</c:v>
                  </c:pt>
                  <c:pt idx="2">
                    <c:v>Rand.Forest</c:v>
                  </c:pt>
                  <c:pt idx="3">
                    <c:v>XGBoost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0.5072</c:v>
                </c:pt>
                <c:pt idx="1">
                  <c:v>0.5085</c:v>
                </c:pt>
                <c:pt idx="2">
                  <c:v>0.5087</c:v>
                </c:pt>
                <c:pt idx="3">
                  <c:v>0.5246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1100" u="none">
                  <a:solidFill>
                    <a:srgbClr val="F5F5F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5B6B7C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5B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6"/>
          <c:min val="0.4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5F5F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3E63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Baseline</c:v>
                  </c:pt>
                  <c:pt idx="1">
                    <c:v>LogReg</c:v>
                  </c:pt>
                  <c:pt idx="2">
                    <c:v>Rand.Forest</c:v>
                  </c:pt>
                  <c:pt idx="3">
                    <c:v>XGBoost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</c:v>
                </c:pt>
                <c:pt idx="1">
                  <c:v>0.5166</c:v>
                </c:pt>
                <c:pt idx="2">
                  <c:v>0.5361</c:v>
                </c:pt>
                <c:pt idx="3">
                  <c:v>0.5262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F5F5F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5B6B7C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5B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6"/>
          <c:min val="0.4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ความแม่นยำ XGBoost</c:v>
                </c:pt>
              </c:strCache>
            </c:strRef>
          </c:tx>
          <c:spPr>
            <a:solidFill>
              <a:srgbClr val="A3E635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5F5"/>
                    </a:solidFill>
                    <a:latin typeface="Leelawadee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 วัน</c:v>
                  </c:pt>
                  <c:pt idx="1">
                    <c:v>5 วัน</c:v>
                  </c:pt>
                  <c:pt idx="2">
                    <c:v>10 วัน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0.5041</c:v>
                </c:pt>
                <c:pt idx="1">
                  <c:v>0.5136</c:v>
                </c:pt>
                <c:pt idx="2">
                  <c:v>0.5246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Baseline (ทายกลุ่มมากสุด)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5F5"/>
                    </a:solidFill>
                    <a:latin typeface="Leelawadee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 วัน</c:v>
                  </c:pt>
                  <c:pt idx="1">
                    <c:v>5 วัน</c:v>
                  </c:pt>
                  <c:pt idx="2">
                    <c:v>10 วัน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0.513</c:v>
                </c:pt>
                <c:pt idx="1">
                  <c:v>0.5221</c:v>
                </c:pt>
                <c:pt idx="2">
                  <c:v>0.5072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1000" u="none">
                  <a:solidFill>
                    <a:srgbClr val="F5F5F5"/>
                  </a:solidFill>
                  <a:latin typeface="Leelawadee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5B6B7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AA5B1"/>
                </a:solidFill>
                <a:latin typeface="Leelawade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6"/>
          <c:min val="0.4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AA5B1"/>
              </a:solidFill>
              <a:latin typeface="Leelawadee UI"/>
              <a:cs typeface="Leelawadee U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5F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A3E63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A3E63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A3E635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ret_1d</c:v>
                  </c:pt>
                  <c:pt idx="1">
                    <c:v>ret_5d</c:v>
                  </c:pt>
                  <c:pt idx="2">
                    <c:v>ret_10d</c:v>
                  </c:pt>
                  <c:pt idx="3">
                    <c:v>vol_ratio</c:v>
                  </c:pt>
                  <c:pt idx="4">
                    <c:v>rsi14</c:v>
                  </c:pt>
                  <c:pt idx="5">
                    <c:v>ret_21d</c:v>
                  </c:pt>
                  <c:pt idx="6">
                    <c:v>macd_hist</c:v>
                  </c:pt>
                  <c:pt idx="7">
                    <c:v>dist_sma50</c:v>
                  </c:pt>
                  <c:pt idx="8">
                    <c:v>dist_sma20</c:v>
                  </c:pt>
                  <c:pt idx="9">
                    <c:v>volatility_20d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0.0782</c:v>
                </c:pt>
                <c:pt idx="1">
                  <c:v>0.0902</c:v>
                </c:pt>
                <c:pt idx="2">
                  <c:v>0.0945</c:v>
                </c:pt>
                <c:pt idx="3">
                  <c:v>0.0948</c:v>
                </c:pt>
                <c:pt idx="4">
                  <c:v>0.1015</c:v>
                </c:pt>
                <c:pt idx="5">
                  <c:v>0.1043</c:v>
                </c:pt>
                <c:pt idx="6">
                  <c:v>0.1049</c:v>
                </c:pt>
                <c:pt idx="7">
                  <c:v>0.1076</c:v>
                </c:pt>
                <c:pt idx="8">
                  <c:v>0.1077</c:v>
                </c:pt>
                <c:pt idx="9">
                  <c:v>0.1163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F5F5F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5B6B7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5F5F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2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914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6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ทำนายทิศทางหุ้น</a:t>
            </a:r>
            <a:endParaRPr lang="en-US" sz="46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6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ด้วย XGBoost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605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ไปป์ไลน์ Machine Learning แบบไม่รั่วไหลข้อมูล ต่อยอดจากแดชบอร์ดที่ใช้งานจริง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4892040"/>
            <a:ext cx="4206240" cy="457200"/>
          </a:xfrm>
          <a:prstGeom prst="roundRect">
            <a:avLst>
              <a:gd name="adj" fmla="val 16000"/>
            </a:avLst>
          </a:prstGeom>
          <a:solidFill>
            <a:srgbClr val="141A2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4892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กลุ่ม ___  ·  [ชื่อทีมที่นี่]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217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CP020003 · ปัญญาประดิษฐ์ · โปรเจกต์จบภาคการศึกษา · มหาวิทยาลัยขอนแก่น 2026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778240" y="5212080"/>
            <a:ext cx="256032" cy="914400"/>
          </a:xfrm>
          <a:prstGeom prst="roundRect">
            <a:avLst>
              <a:gd name="adj" fmla="val 10714"/>
            </a:avLst>
          </a:prstGeom>
          <a:solidFill>
            <a:srgbClr val="A3E635"/>
          </a:solidFill>
          <a:ln/>
        </p:spPr>
      </p:sp>
      <p:sp>
        <p:nvSpPr>
          <p:cNvPr id="9" name="Shape 7"/>
          <p:cNvSpPr/>
          <p:nvPr/>
        </p:nvSpPr>
        <p:spPr>
          <a:xfrm>
            <a:off x="9162288" y="4663440"/>
            <a:ext cx="256032" cy="1463040"/>
          </a:xfrm>
          <a:prstGeom prst="roundRect">
            <a:avLst>
              <a:gd name="adj" fmla="val 10714"/>
            </a:avLst>
          </a:prstGeom>
          <a:solidFill>
            <a:srgbClr val="5B6B7C"/>
          </a:solidFill>
          <a:ln/>
        </p:spPr>
      </p:sp>
      <p:sp>
        <p:nvSpPr>
          <p:cNvPr id="10" name="Shape 8"/>
          <p:cNvSpPr/>
          <p:nvPr/>
        </p:nvSpPr>
        <p:spPr>
          <a:xfrm>
            <a:off x="9546336" y="5394960"/>
            <a:ext cx="256032" cy="731520"/>
          </a:xfrm>
          <a:prstGeom prst="roundRect">
            <a:avLst>
              <a:gd name="adj" fmla="val 10714"/>
            </a:avLst>
          </a:prstGeom>
          <a:solidFill>
            <a:srgbClr val="A3E635"/>
          </a:solidFill>
          <a:ln/>
        </p:spPr>
      </p:sp>
      <p:sp>
        <p:nvSpPr>
          <p:cNvPr id="11" name="Shape 9"/>
          <p:cNvSpPr/>
          <p:nvPr/>
        </p:nvSpPr>
        <p:spPr>
          <a:xfrm>
            <a:off x="9930384" y="4206240"/>
            <a:ext cx="256032" cy="1920240"/>
          </a:xfrm>
          <a:prstGeom prst="roundRect">
            <a:avLst>
              <a:gd name="adj" fmla="val 10714"/>
            </a:avLst>
          </a:prstGeom>
          <a:solidFill>
            <a:srgbClr val="A3E63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14432" y="4937760"/>
            <a:ext cx="256032" cy="1188720"/>
          </a:xfrm>
          <a:prstGeom prst="roundRect">
            <a:avLst>
              <a:gd name="adj" fmla="val 10714"/>
            </a:avLst>
          </a:prstGeom>
          <a:solidFill>
            <a:srgbClr val="5B6B7C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98480" y="4389120"/>
            <a:ext cx="256032" cy="1737360"/>
          </a:xfrm>
          <a:prstGeom prst="roundRect">
            <a:avLst>
              <a:gd name="adj" fmla="val 10714"/>
            </a:avLst>
          </a:prstGeom>
          <a:solidFill>
            <a:srgbClr val="A3E635"/>
          </a:solidFill>
          <a:ln/>
        </p:spPr>
      </p:sp>
      <p:sp>
        <p:nvSpPr>
          <p:cNvPr id="14" name="Shape 12"/>
          <p:cNvSpPr/>
          <p:nvPr/>
        </p:nvSpPr>
        <p:spPr>
          <a:xfrm>
            <a:off x="11082528" y="5120640"/>
            <a:ext cx="256032" cy="1005840"/>
          </a:xfrm>
          <a:prstGeom prst="roundRect">
            <a:avLst>
              <a:gd name="adj" fmla="val 10714"/>
            </a:avLst>
          </a:prstGeom>
          <a:solidFill>
            <a:srgbClr val="5B6B7C"/>
          </a:solidFill>
          <a:ln/>
        </p:spPr>
      </p:sp>
      <p:sp>
        <p:nvSpPr>
          <p:cNvPr id="15" name="Shape 13"/>
          <p:cNvSpPr/>
          <p:nvPr/>
        </p:nvSpPr>
        <p:spPr>
          <a:xfrm>
            <a:off x="11466576" y="3931920"/>
            <a:ext cx="256032" cy="2194560"/>
          </a:xfrm>
          <a:prstGeom prst="roundRect">
            <a:avLst>
              <a:gd name="adj" fmla="val 10714"/>
            </a:avLst>
          </a:prstGeom>
          <a:solidFill>
            <a:srgbClr val="A3E635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ทีมของเรา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สมาชิกในกลุ่ม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169164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กลุ่มที่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19659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___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1691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ชื่อกลุ่ม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20116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[ชื่อทีมที่นี่]</a:t>
            </a:r>
            <a:endParaRPr lang="en-US" sz="2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43200"/>
          <a:ext cx="11064240" cy="3291840"/>
        </p:xfrm>
        <a:graphic>
          <a:graphicData uri="http://schemas.openxmlformats.org/drawingml/2006/table">
            <a:tbl>
              <a:tblPr/>
              <a:tblGrid>
                <a:gridCol w="1097280"/>
                <a:gridCol w="6309360"/>
                <a:gridCol w="36576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A3E63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#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A3E63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ชื่อนักศึกษา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A3E63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รหัสนักศึกษา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3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1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_______________________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_______________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A0E1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2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_______________________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_______________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A2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3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_______________________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_______________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A0E1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4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_______________________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_______________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A2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5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_______________________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_______________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A0E1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ที่มาและหัวข้อ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ทำไมถึงทำโปรเจกต์นี้?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เราสร้าง Stockscope ไว้แล้ว — แดชบอร์ดที่คำนวณ RSI, MACD, ค่าเฉลี่ยเคลื่อนที่ และโซนแนวรับ-แนวต้าน ให้หุ้นทุกตัวแบบเรียลไทม์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คำถามที่ตามมาคือสิ่งที่เราทดสอบได้จริงด้วยข้อมูลที่มีอยู่แล้ว: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383280"/>
            <a:ext cx="6035040" cy="1554480"/>
          </a:xfrm>
          <a:prstGeom prst="roundRect">
            <a:avLst>
              <a:gd name="adj" fmla="val 4706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68680" y="3383280"/>
            <a:ext cx="5394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“อินดิเคเตอร์เดียวกันนี้ ทำนายทิศทางราคาถัดไปได้ไหม?”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7040880" y="1691640"/>
            <a:ext cx="4572000" cy="1234440"/>
          </a:xfrm>
          <a:prstGeom prst="roundRect">
            <a:avLst>
              <a:gd name="adj" fmla="val 5926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269480" y="1947672"/>
            <a:ext cx="731520" cy="7315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12" name="Image 0" descr="C:\Users\NBODT\AppData\Local\Temp\claude\C--Users-NBODT-Desktop-----\2b6ff6e8-e305-4bc6-988f-ca2316229282\scratchpad\slides\icons\bar-chart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2130552"/>
            <a:ext cx="365760" cy="36576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8183880" y="183794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แดชบอร์ดเรียลไทม์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183880" y="21945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RSI · MACD · SMA · Volume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คำนวณแบบวันต่อวัน</a:t>
            </a:r>
            <a:endParaRPr lang="en-US" sz="1100" dirty="0"/>
          </a:p>
        </p:txBody>
      </p:sp>
      <p:pic>
        <p:nvPicPr>
          <p:cNvPr id="15" name="Image 1" descr="C:\Users\NBODT\AppData\Local\Temp\claude\C--Users-NBODT-Desktop-----\2b6ff6e8-e305-4bc6-988f-ca2316229282\scratchpad\slides\icons\arrow-right-mut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2985516"/>
            <a:ext cx="182880" cy="18288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7040880" y="3227832"/>
            <a:ext cx="4572000" cy="1234440"/>
          </a:xfrm>
          <a:prstGeom prst="roundRect">
            <a:avLst>
              <a:gd name="adj" fmla="val 5926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269480" y="3483864"/>
            <a:ext cx="731520" cy="7315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18" name="Image 2" descr="C:\Users\NBODT\AppData\Local\Temp\claude\C--Users-NBODT-Desktop-----\2b6ff6e8-e305-4bc6-988f-ca2316229282\scratchpad\slides\icons\target-d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3666744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183880" y="337413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คำถามหลัก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8183880" y="373075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ขึ้นหรือลง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ในอีก N วันข้างหน้า?</a:t>
            </a:r>
            <a:endParaRPr lang="en-US" sz="1100" dirty="0"/>
          </a:p>
        </p:txBody>
      </p:sp>
      <p:pic>
        <p:nvPicPr>
          <p:cNvPr id="21" name="Image 3" descr="C:\Users\NBODT\AppData\Local\Temp\claude\C--Users-NBODT-Desktop-----\2b6ff6e8-e305-4bc6-988f-ca2316229282\scratchpad\slides\icons\arrow-right-mut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8280" y="4521708"/>
            <a:ext cx="182880" cy="18288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7040880" y="4764024"/>
            <a:ext cx="4572000" cy="1234440"/>
          </a:xfrm>
          <a:prstGeom prst="roundRect">
            <a:avLst>
              <a:gd name="adj" fmla="val 5926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7269480" y="5020056"/>
            <a:ext cx="731520" cy="7315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24" name="Image 4" descr="C:\Users\NBODT\AppData\Local\Temp\claude\C--Users-NBODT-Desktop-----\2b6ff6e8-e305-4bc6-988f-ca2316229282\scratchpad\slides\icons\cpu-d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0" y="5202936"/>
            <a:ext cx="365760" cy="36576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8183880" y="491032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โมเดล ML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8183880" y="526694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จำแนกสองกลุ่ม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เทรนจากข้อมูลย้อนหลัง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โจทย์ AI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มองเป็นปัญหา Machine Learning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5303520" cy="4480560"/>
          </a:xfrm>
          <a:prstGeom prst="roundRect">
            <a:avLst>
              <a:gd name="adj" fmla="val 1633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18745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การจำแนกแบบสองกลุ่ม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42316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label_up = 1  if Close[t+N] &gt; Close[t]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label_up = 0  otherwise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24612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Input: อินดิเคเตอร์ทางเทคนิคจนถึงวันที่ 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Output: ความน่าจะเป็นที่ราคาจะสูงขึ้นในอีก N วัน</a:t>
            </a:r>
            <a:endParaRPr lang="en-US" sz="1300" dirty="0"/>
          </a:p>
        </p:txBody>
      </p:sp>
      <p:pic>
        <p:nvPicPr>
          <p:cNvPr id="10" name="Image 0" descr="C:\Users\NBODT\AppData\Local\Temp\claude\C--Users-NBODT-Desktop-----\2b6ff6e8-e305-4bc6-988f-ca2316229282\scratchpad\slides\icons\zap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160520"/>
            <a:ext cx="256032" cy="25603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280160" y="410565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เทรนเร็ว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280160" y="441655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รันจบในไม่กี่วินาที บนโน้ตบุ๊กหรือ Colab ฟรี</a:t>
            </a:r>
            <a:endParaRPr lang="en-US" sz="1100" dirty="0"/>
          </a:p>
        </p:txBody>
      </p:sp>
      <p:pic>
        <p:nvPicPr>
          <p:cNvPr id="13" name="Image 1" descr="C:\Users\NBODT\AppData\Local\Temp\claude\C--Users-NBODT-Desktop-----\2b6ff6e8-e305-4bc6-988f-ca2316229282\scratchpad\slides\icons\layers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727448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280160" y="467258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เหมาะกับข้อมูลตาราง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1280160" y="49834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ฟีเจอร์ของเราคือตัวเลขอินดิเคเตอร์ ไม่ใช่รูปภาพหรือข้อความ</a:t>
            </a:r>
            <a:endParaRPr lang="en-US" sz="1100" dirty="0"/>
          </a:p>
        </p:txBody>
      </p:sp>
      <p:pic>
        <p:nvPicPr>
          <p:cNvPr id="16" name="Image 2" descr="C:\Users\NBODT\AppData\Local\Temp\claude\C--Users-NBODT-Desktop-----\2b6ff6e8-e305-4bc6-988f-ca2316229282\scratchpad\slides\icons\target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294376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280160" y="523951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อธิบายได้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1280160" y="555040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Feature Importance บอกได้ว่า “ทำไม” ไม่ใช่แค่ตัวเลข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492240" y="1783080"/>
            <a:ext cx="548640" cy="548640"/>
          </a:xfrm>
          <a:prstGeom prst="ellipse">
            <a:avLst/>
          </a:prstGeom>
          <a:solidFill>
            <a:srgbClr val="1B2330"/>
          </a:solidFill>
          <a:ln w="19050">
            <a:solidFill>
              <a:srgbClr val="A3E635"/>
            </a:solidFill>
            <a:prstDash val="solid"/>
          </a:ln>
        </p:spPr>
      </p:sp>
      <p:pic>
        <p:nvPicPr>
          <p:cNvPr id="20" name="Image 3" descr="C:\Users\NBODT\AppData\Local\Temp\claude\C--Users-NBODT-Desktop-----\2b6ff6e8-e305-4bc6-988f-ca2316229282\scratchpad\slides\icons\database-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192024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269480" y="176479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7269480" y="20574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OHLCV 5 ปี, 20 หุ้น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6766560" y="2331720"/>
            <a:ext cx="0" cy="502920"/>
          </a:xfrm>
          <a:prstGeom prst="line">
            <a:avLst/>
          </a:prstGeom>
          <a:noFill/>
          <a:ln w="19050">
            <a:solidFill>
              <a:srgbClr val="5B6B7C"/>
            </a:solidFill>
            <a:prstDash val="dash"/>
          </a:ln>
        </p:spPr>
      </p:sp>
      <p:sp>
        <p:nvSpPr>
          <p:cNvPr id="24" name="Shape 18"/>
          <p:cNvSpPr/>
          <p:nvPr/>
        </p:nvSpPr>
        <p:spPr>
          <a:xfrm>
            <a:off x="6492240" y="2834640"/>
            <a:ext cx="548640" cy="548640"/>
          </a:xfrm>
          <a:prstGeom prst="ellipse">
            <a:avLst/>
          </a:prstGeom>
          <a:solidFill>
            <a:srgbClr val="1B2330"/>
          </a:solidFill>
          <a:ln w="19050">
            <a:solidFill>
              <a:srgbClr val="A3E635"/>
            </a:solidFill>
            <a:prstDash val="solid"/>
          </a:ln>
        </p:spPr>
      </p:sp>
      <p:pic>
        <p:nvPicPr>
          <p:cNvPr id="25" name="Image 4" descr="C:\Users\NBODT\AppData\Local\Temp\claude\C--Users-NBODT-Desktop-----\2b6ff6e8-e305-4bc6-988f-ca2316229282\scratchpad\slides\icons\activity-lim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2971800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269480" y="281635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ฟีเจอร์</a:t>
            </a:r>
            <a:endParaRPr lang="en-US" sz="1400" dirty="0"/>
          </a:p>
        </p:txBody>
      </p:sp>
      <p:sp>
        <p:nvSpPr>
          <p:cNvPr id="27" name="Text 20"/>
          <p:cNvSpPr txBox="1"/>
          <p:nvPr/>
        </p:nvSpPr>
        <p:spPr>
          <a:xfrm>
            <a:off x="7269480" y="31089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RSI · MACD · SMA · Vol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766560" y="3383280"/>
            <a:ext cx="0" cy="502920"/>
          </a:xfrm>
          <a:prstGeom prst="line">
            <a:avLst/>
          </a:prstGeom>
          <a:noFill/>
          <a:ln w="19050">
            <a:solidFill>
              <a:srgbClr val="5B6B7C"/>
            </a:solidFill>
            <a:prstDash val="dash"/>
          </a:ln>
        </p:spPr>
      </p:sp>
      <p:sp>
        <p:nvSpPr>
          <p:cNvPr id="29" name="Shape 22"/>
          <p:cNvSpPr/>
          <p:nvPr/>
        </p:nvSpPr>
        <p:spPr>
          <a:xfrm>
            <a:off x="6492240" y="3886200"/>
            <a:ext cx="548640" cy="548640"/>
          </a:xfrm>
          <a:prstGeom prst="ellipse">
            <a:avLst/>
          </a:prstGeom>
          <a:solidFill>
            <a:srgbClr val="1B2330"/>
          </a:solidFill>
          <a:ln w="19050">
            <a:solidFill>
              <a:srgbClr val="A3E635"/>
            </a:solidFill>
            <a:prstDash val="solid"/>
          </a:ln>
        </p:spPr>
      </p:sp>
      <p:pic>
        <p:nvPicPr>
          <p:cNvPr id="30" name="Image 5" descr="C:\Users\NBODT\AppData\Local\Temp\claude\C--Users-NBODT-Desktop-----\2b6ff6e8-e305-4bc6-988f-ca2316229282\scratchpad\slides\icons\cpu-lim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4023360"/>
            <a:ext cx="274320" cy="2743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269480" y="386791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โมเดล</a:t>
            </a:r>
            <a:endParaRPr lang="en-US" sz="1400" dirty="0"/>
          </a:p>
        </p:txBody>
      </p:sp>
      <p:sp>
        <p:nvSpPr>
          <p:cNvPr id="32" name="Text 24"/>
          <p:cNvSpPr txBox="1"/>
          <p:nvPr/>
        </p:nvSpPr>
        <p:spPr>
          <a:xfrm>
            <a:off x="7269480" y="41605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XGBoost classifier</a:t>
            </a:r>
            <a:endParaRPr lang="en-US" sz="1100" dirty="0"/>
          </a:p>
        </p:txBody>
      </p:sp>
      <p:sp>
        <p:nvSpPr>
          <p:cNvPr id="33" name="Shape 25"/>
          <p:cNvSpPr/>
          <p:nvPr/>
        </p:nvSpPr>
        <p:spPr>
          <a:xfrm>
            <a:off x="6766560" y="4434840"/>
            <a:ext cx="0" cy="502920"/>
          </a:xfrm>
          <a:prstGeom prst="line">
            <a:avLst/>
          </a:prstGeom>
          <a:noFill/>
          <a:ln w="19050">
            <a:solidFill>
              <a:srgbClr val="5B6B7C"/>
            </a:solidFill>
            <a:prstDash val="dash"/>
          </a:ln>
        </p:spPr>
      </p:sp>
      <p:sp>
        <p:nvSpPr>
          <p:cNvPr id="34" name="Shape 26"/>
          <p:cNvSpPr/>
          <p:nvPr/>
        </p:nvSpPr>
        <p:spPr>
          <a:xfrm>
            <a:off x="6492240" y="4937760"/>
            <a:ext cx="548640" cy="548640"/>
          </a:xfrm>
          <a:prstGeom prst="ellipse">
            <a:avLst/>
          </a:prstGeom>
          <a:solidFill>
            <a:srgbClr val="1B2330"/>
          </a:solidFill>
          <a:ln w="19050">
            <a:solidFill>
              <a:srgbClr val="A3E635"/>
            </a:solidFill>
            <a:prstDash val="solid"/>
          </a:ln>
        </p:spPr>
      </p:sp>
      <p:pic>
        <p:nvPicPr>
          <p:cNvPr id="35" name="Image 6" descr="C:\Users\NBODT\AppData\Local\Temp\claude\C--Users-NBODT-Desktop-----\2b6ff6e8-e305-4bc6-988f-ca2316229282\scratchpad\slides\icons\bar-chart-lim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9400" y="5074920"/>
            <a:ext cx="274320" cy="27432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7269480" y="491947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ผลทำนาย</a:t>
            </a:r>
            <a:endParaRPr lang="en-US" sz="1400" dirty="0"/>
          </a:p>
        </p:txBody>
      </p:sp>
      <p:sp>
        <p:nvSpPr>
          <p:cNvPr id="37" name="Text 28"/>
          <p:cNvSpPr txBox="1"/>
          <p:nvPr/>
        </p:nvSpPr>
        <p:spPr>
          <a:xfrm>
            <a:off x="7269480" y="52120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P(ขึ้น) ใน N วัน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ชุดข้อมูลและ EDA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ชุดข้อมูล (Dataset)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18288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20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100" kern="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จำนวนหุ้น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37560" y="169164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566160" y="18288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 ปี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100" kern="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ข้อมูลรายวัน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26480" y="169164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355080" y="18288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25,100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100" kern="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แถวข้อมูลทั้งหมด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15400" y="169164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144000" y="18288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100" kern="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ข้อมูลขาดหาย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200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แหล่งข้อมูลเดียวกับที่ Stockscope ใช้งานจริง: Yahoo Finance ผ่าน yfinance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7033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ช่วงข้อมูล: 2021-09-27  →  2026-09-25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206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กลุ่มอุตสาหกรรมที่ครอบคลุม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572000"/>
            <a:ext cx="1527048" cy="411480"/>
          </a:xfrm>
          <a:prstGeom prst="roundRect">
            <a:avLst>
              <a:gd name="adj" fmla="val 48889"/>
            </a:avLst>
          </a:prstGeom>
          <a:solidFill>
            <a:srgbClr val="1B233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4572000"/>
            <a:ext cx="1527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เทคโนโลยี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258568" y="4572000"/>
            <a:ext cx="1289304" cy="411480"/>
          </a:xfrm>
          <a:prstGeom prst="roundRect">
            <a:avLst>
              <a:gd name="adj" fmla="val 48889"/>
            </a:avLst>
          </a:prstGeom>
          <a:solidFill>
            <a:srgbClr val="1B233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258568" y="4572000"/>
            <a:ext cx="12893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การเงิน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30752" y="4572000"/>
            <a:ext cx="1289304" cy="411480"/>
          </a:xfrm>
          <a:prstGeom prst="roundRect">
            <a:avLst>
              <a:gd name="adj" fmla="val 48889"/>
            </a:avLst>
          </a:prstGeom>
          <a:solidFill>
            <a:srgbClr val="1B233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730752" y="4572000"/>
            <a:ext cx="12893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พลังงาน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202936" y="4572000"/>
            <a:ext cx="1170432" cy="411480"/>
          </a:xfrm>
          <a:prstGeom prst="roundRect">
            <a:avLst>
              <a:gd name="adj" fmla="val 48889"/>
            </a:avLst>
          </a:prstGeom>
          <a:solidFill>
            <a:srgbClr val="1B233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202936" y="457200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สุขภาพ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5120640"/>
            <a:ext cx="2596896" cy="411480"/>
          </a:xfrm>
          <a:prstGeom prst="roundRect">
            <a:avLst>
              <a:gd name="adj" fmla="val 48889"/>
            </a:avLst>
          </a:prstGeom>
          <a:solidFill>
            <a:srgbClr val="1B233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48640" y="5120640"/>
            <a:ext cx="2596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สินค้าอุปโภคบริโภค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328416" y="5120640"/>
            <a:ext cx="1883664" cy="411480"/>
          </a:xfrm>
          <a:prstGeom prst="roundRect">
            <a:avLst>
              <a:gd name="adj" fmla="val 48889"/>
            </a:avLst>
          </a:prstGeom>
          <a:solidFill>
            <a:srgbClr val="1B233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328416" y="5120640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สื่อ/บันเทิง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315200" y="1691640"/>
            <a:ext cx="4297680" cy="4480560"/>
          </a:xfrm>
          <a:prstGeom prst="roundRect">
            <a:avLst>
              <a:gd name="adj" fmla="val 1702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763524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ตัวอย่างหุ้นที่ใช้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7635240" y="2286000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AAPL · MSFT · NVDA · JPM · XOM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JNJ · AMZN · KO · GOOGL · META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WMT · PG · V · MA · DIS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NFLX · AMD · INTC · BAC · CVX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7635240" y="4343400"/>
            <a:ext cx="3703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หลายอุตสาหกรรม ไม่ใช่หุ้นเดียว — ลดความเสี่ยงที่โมเดลจะเรียนรู้พฤติกรรมเฉพาะของบริษัทเดียว แทนที่จะเป็นพฤติกรรมทั่วไปของอินดิเคเตอร์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ระเบียบวิธี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ฟีเจอร์ — สิ่งที่โมเดลมองเห็น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03520" cy="1280160"/>
          </a:xfrm>
          <a:prstGeom prst="roundRect">
            <a:avLst>
              <a:gd name="adj" fmla="val 5714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2057400"/>
            <a:ext cx="502920" cy="5029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8" name="Image 0" descr="C:\Users\NBODT\AppData\Local\Temp\claude\C--Users-NBODT-Desktop-----\2b6ff6e8-e305-4bc6-988f-ca2316229282\scratchpad\slides\icons\activity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2176272"/>
            <a:ext cx="265176" cy="26517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27048" y="2020824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ret_1d / 5d / 10d / 21d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527048" y="2295144"/>
            <a:ext cx="4050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ผลตอบแทนย้อนหลัง 1–21 วันทำการ (โมเมนตัม)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309360" y="1691640"/>
            <a:ext cx="5303520" cy="1280160"/>
          </a:xfrm>
          <a:prstGeom prst="roundRect">
            <a:avLst>
              <a:gd name="adj" fmla="val 5714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83680" y="2057400"/>
            <a:ext cx="502920" cy="5029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13" name="Image 1" descr="C:\Users\NBODT\AppData\Local\Temp\claude\C--Users-NBODT-Desktop-----\2b6ff6e8-e305-4bc6-988f-ca2316229282\scratchpad\slides\icons\targe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2552" y="2176272"/>
            <a:ext cx="265176" cy="26517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287768" y="2020824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rsi14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287768" y="2295144"/>
            <a:ext cx="4050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RSI 14 วัน — ซื้อมากไปหรือขายมากไป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48640" y="3172968"/>
            <a:ext cx="5303520" cy="1280160"/>
          </a:xfrm>
          <a:prstGeom prst="roundRect">
            <a:avLst>
              <a:gd name="adj" fmla="val 5714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2960" y="3538728"/>
            <a:ext cx="502920" cy="5029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18" name="Image 2" descr="C:\Users\NBODT\AppData\Local\Temp\claude\C--Users-NBODT-Desktop-----\2b6ff6e8-e305-4bc6-988f-ca2316229282\scratchpad\slides\icons\bar-chart-d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3657600"/>
            <a:ext cx="265176" cy="26517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527048" y="3502152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macd_hist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1527048" y="3776472"/>
            <a:ext cx="4050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MACD Histogram (ความแรง &amp; ทิศทางเทรนด์)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6309360" y="3172968"/>
            <a:ext cx="5303520" cy="1280160"/>
          </a:xfrm>
          <a:prstGeom prst="roundRect">
            <a:avLst>
              <a:gd name="adj" fmla="val 5714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583680" y="3538728"/>
            <a:ext cx="502920" cy="5029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23" name="Image 3" descr="C:\Users\NBODT\AppData\Local\Temp\claude\C--Users-NBODT-Desktop-----\2b6ff6e8-e305-4bc6-988f-ca2316229282\scratchpad\slides\icons\layers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2552" y="3657600"/>
            <a:ext cx="265176" cy="265176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287768" y="3502152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dist_sma20 / dist_sma50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7287768" y="3776472"/>
            <a:ext cx="4050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% ระยะห่างจากเส้นค่าเฉลี่ย 20/50 วัน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548640" y="4654296"/>
            <a:ext cx="5303520" cy="1280160"/>
          </a:xfrm>
          <a:prstGeom prst="roundRect">
            <a:avLst>
              <a:gd name="adj" fmla="val 5714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822960" y="5020056"/>
            <a:ext cx="502920" cy="5029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28" name="Image 4" descr="C:\Users\NBODT\AppData\Local\Temp\claude\C--Users-NBODT-Desktop-----\2b6ff6e8-e305-4bc6-988f-ca2316229282\scratchpad\slides\icons\zap-d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832" y="5138928"/>
            <a:ext cx="265176" cy="26517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527048" y="4983480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vol_ratio</a:t>
            </a:r>
            <a:endParaRPr lang="en-US" sz="1400" dirty="0"/>
          </a:p>
        </p:txBody>
      </p:sp>
      <p:sp>
        <p:nvSpPr>
          <p:cNvPr id="30" name="Text 23"/>
          <p:cNvSpPr txBox="1"/>
          <p:nvPr/>
        </p:nvSpPr>
        <p:spPr>
          <a:xfrm>
            <a:off x="1527048" y="5257800"/>
            <a:ext cx="4050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ปริมาณซื้อขายวันนี้ เทียบค่าเฉลี่ย 20 วัน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6309360" y="4654296"/>
            <a:ext cx="5303520" cy="1280160"/>
          </a:xfrm>
          <a:prstGeom prst="roundRect">
            <a:avLst>
              <a:gd name="adj" fmla="val 5714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6583680" y="5020056"/>
            <a:ext cx="502920" cy="5029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33" name="Image 5" descr="C:\Users\NBODT\AppData\Local\Temp\claude\C--Users-NBODT-Desktop-----\2b6ff6e8-e305-4bc6-988f-ca2316229282\scratchpad\slides\icons\shield-dar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2552" y="5138928"/>
            <a:ext cx="265176" cy="265176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7287768" y="4983480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volatility_20d</a:t>
            </a:r>
            <a:endParaRPr lang="en-US" sz="1400" dirty="0"/>
          </a:p>
        </p:txBody>
      </p:sp>
      <p:sp>
        <p:nvSpPr>
          <p:cNvPr id="35" name="Text 27"/>
          <p:cNvSpPr txBox="1"/>
          <p:nvPr/>
        </p:nvSpPr>
        <p:spPr>
          <a:xfrm>
            <a:off x="7287768" y="5257800"/>
            <a:ext cx="4050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ส่วนเบี่ยงเบนมาตรฐานผลตอบแทนรายวัน (ความผันผวน)</a:t>
            </a:r>
            <a:endParaRPr lang="en-US" sz="1100" dirty="0"/>
          </a:p>
        </p:txBody>
      </p:sp>
      <p:sp>
        <p:nvSpPr>
          <p:cNvPr id="36" name="Text 28"/>
          <p:cNvSpPr txBox="1"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คำนวณด้วยหน้าต่างข้อมูลย้อนหลังเท่านั้น (rolling / ewm) — เรื่องการออกแบบป้องกันข้อมูลรั่วไหลต่อในสไลด์ถัดไป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ระเบียบวิธี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ป้องกันข้อมูลรั่วไหล (Data Leakage)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การตัดสินใจออกแบบที่สำคัญที่สุด — ตรงกับเกณฑ์ “ระเบียบวิธีไม่รั่วไหลข้อมูล มีเหตุผลรองรับ” ในเกณฑ์การให้คะแนน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5349240" cy="2743200"/>
          </a:xfrm>
          <a:prstGeom prst="roundRect">
            <a:avLst>
              <a:gd name="adj" fmla="val 2667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0" descr="C:\Users\NBODT\AppData\Local\Temp\claude\C--Users-NBODT-Desktop-----\2b6ff6e8-e305-4bc6-988f-ca2316229282\scratchpad\slides\icons\x-circle-co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11680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5880" y="202996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แบ่งข้อมูลแบบสุ่ม 80/20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ข้อมูลสัปดาห์เดียวกันหลุดไปอยู่ทั้งฝั่ง train และ test อินดิเคเตอร์มีความสัมพันธ์กันในตัวเอง (autocorrelated) — โมเดลจะจำช่วง test แทนที่จะเรียนรู้ภาพรวม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263640" y="1783080"/>
            <a:ext cx="5349240" cy="2743200"/>
          </a:xfrm>
          <a:prstGeom prst="roundRect">
            <a:avLst>
              <a:gd name="adj" fmla="val 2667"/>
            </a:avLst>
          </a:prstGeom>
          <a:solidFill>
            <a:srgbClr val="1B233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2" name="Image 1" descr="C:\Users\NBODT\AppData\Local\Temp\claude\C--Users-NBODT-Desktop-----\2b6ff6e8-e305-4bc6-988f-ca2316229282\scratchpad\slides\icons\check-circle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0116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040880" y="202996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ตัดข้อมูลตามวันที่เดียวทั้งชุด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6537960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ทุกแถวของ train เกิดก่อนทุกแถวของ test เสมอ ทั้ง 20 หุ้นพร้อมกัน — เลียนแบบการใช้งานจริง: เทรนจากอดีต ทดสอบกับอนาคตที่ยังไม่เคยเห็น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40080" y="5029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2021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10607040" y="5029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2026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48640" y="5349240"/>
            <a:ext cx="7863840" cy="502920"/>
          </a:xfrm>
          <a:prstGeom prst="roundRect">
            <a:avLst>
              <a:gd name="adj" fmla="val 10909"/>
            </a:avLst>
          </a:prstGeom>
          <a:solidFill>
            <a:srgbClr val="A3E635"/>
          </a:solidFill>
          <a:ln/>
        </p:spPr>
      </p:sp>
      <p:sp>
        <p:nvSpPr>
          <p:cNvPr id="18" name="Shape 14"/>
          <p:cNvSpPr/>
          <p:nvPr/>
        </p:nvSpPr>
        <p:spPr>
          <a:xfrm>
            <a:off x="8412480" y="5349240"/>
            <a:ext cx="3200400" cy="502920"/>
          </a:xfrm>
          <a:prstGeom prst="roundRect">
            <a:avLst>
              <a:gd name="adj" fmla="val 10909"/>
            </a:avLst>
          </a:prstGeom>
          <a:solidFill>
            <a:srgbClr val="FF6B6B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548640" y="53492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0E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TRAIN  —  19,280 แถว  (ต.ค. 2021 → ต.ค. 2025)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8412480" y="53492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0E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TEST  —  4,840 แถว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786384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cutoff: 2025-10-09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ระเบียบวิธี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การเทรนโมเดล — Baseline เทียบ XGBoost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1920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Logistic Regression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231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โมเดลเชิงเส้นพื้นฐานที่สุด (standardize ฟีเจอร์ก่อน)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73736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572000" y="1920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Random Forest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4231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โมเดล tree-ensemble อีกตัว ไม่มี boosting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0" y="173736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1B233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321040" y="1920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XGBoost (ของเรา)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4231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ปรับจูนด้วย TimeSeriesSplit CV — ใช้เฉพาะชุด train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794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ค้นหาค่า HYPERPARAMETER — TimeSeriesSplit (4 folds) ใช้เฉพาะชุด train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206240"/>
            <a:ext cx="7406640" cy="502920"/>
          </a:xfrm>
          <a:prstGeom prst="roundRect">
            <a:avLst>
              <a:gd name="adj" fmla="val 10909"/>
            </a:avLst>
          </a:prstGeom>
          <a:solidFill>
            <a:srgbClr val="141A2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42062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max_depth=3, lr=0.05, n=200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754880" y="4206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CV AUC 0.499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828032"/>
            <a:ext cx="7406640" cy="502920"/>
          </a:xfrm>
          <a:prstGeom prst="roundRect">
            <a:avLst>
              <a:gd name="adj" fmla="val 10909"/>
            </a:avLst>
          </a:prstGeom>
          <a:solidFill>
            <a:srgbClr val="1B2330"/>
          </a:solidFill>
          <a:ln w="12700">
            <a:solidFill>
              <a:srgbClr val="A3E63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82803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max_depth=4, lr=0.05, n=300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754880" y="482803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CV AUC 0.505  ✓ ดีที่สุด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5449824"/>
            <a:ext cx="7406640" cy="502920"/>
          </a:xfrm>
          <a:prstGeom prst="roundRect">
            <a:avLst>
              <a:gd name="adj" fmla="val 10909"/>
            </a:avLst>
          </a:prstGeom>
          <a:solidFill>
            <a:srgbClr val="141A2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77240" y="5449824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max_depth=3, lr=0.10, n=150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754880" y="544982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CV AUC 0.501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321040" y="3794760"/>
            <a:ext cx="3291840" cy="2423160"/>
          </a:xfrm>
          <a:prstGeom prst="roundRect">
            <a:avLst>
              <a:gd name="adj" fmla="val 3019"/>
            </a:avLst>
          </a:prstGeom>
          <a:solidFill>
            <a:srgbClr val="1B233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595360" y="4023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ค่าที่ใช้จริง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595360" y="434340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3E6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max_depth: 4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3E6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learning_rate: 0.05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3E6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n_estimators: 300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3E6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subsample: 0.8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ผลลัพธ์และการประเมิน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เปรียบเทียบโมเดลบนชุดทดสอบ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ความแม่นยำ (Accuracy)</a:t>
            </a:r>
            <a:endParaRPr lang="en-US" sz="1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2011680"/>
          <a:ext cx="530352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309360" y="16916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ROC-AUC</a:t>
            </a:r>
            <a:endParaRPr lang="en-US" sz="14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6309360" y="2011680"/>
          <a:ext cx="530352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507492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68680" y="507492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XGBoost แม่นยำที่สุด (52.5%) ส่วน Random Forest ทำ ROC-AUC ได้ดีกว่าเล็กน้อย (0.536 เทียบ 0.526) ทั้งสองโมเดลแบบ tree-ensemble ชนะ Logistic Regression และ baseline ที่ทายกลุ่มมากสุดอย่างเดียว (50.7%) อย่างชัดเจน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ผลลัพธ์และการประเมิน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ระยะเวลาทำนายมีผลไหม?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ใช้ไปป์ไลน์เดียวกัน ทดสอบ 3 ระยะเวลา — 1, 5 และ 10 วันทำการข้างหน้า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1783080"/>
          <a:ext cx="69494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7772400" y="1783080"/>
            <a:ext cx="3840480" cy="3931920"/>
          </a:xfrm>
          <a:prstGeom prst="roundRect">
            <a:avLst>
              <a:gd name="adj" fmla="val 1905"/>
            </a:avLst>
          </a:prstGeom>
          <a:solidFill>
            <a:srgbClr val="1B233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046720" y="1965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ROC-AUC ตามระยะเวลา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237744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 วัน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9601200" y="23774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0.505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8046720" y="28803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 วัน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9601200" y="2880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0.507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8046720" y="33832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10 วัน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0" y="33832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0.526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3977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สุ่มล้วนๆ = 0.500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8046720" y="411480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การเคลื่อนไหวระยะสั้นใกล้เคียงการสุ่ม แต่เริ่มมีความได้เปรียบเล็กน้อยที่ระยะ 10 วัน — สอดคล้องกับทฤษฎีตลาดมีประสิทธิภาพ (Market Efficiency)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ผลลัพธ์และการประเมิน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โมเดลให้ความสำคัญกับอะไรบ้าง?</a:t>
            </a:r>
            <a:endParaRPr lang="en-US" sz="3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91640"/>
          <a:ext cx="69494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772400" y="1691640"/>
            <a:ext cx="3840480" cy="4572000"/>
          </a:xfrm>
          <a:prstGeom prst="roundRect">
            <a:avLst>
              <a:gd name="adj" fmla="val 1905"/>
            </a:avLst>
          </a:prstGeom>
          <a:solidFill>
            <a:srgbClr val="1B233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0" descr="C:\Users\NBODT\AppData\Local\Temp\claude\C--Users-NBODT-Desktop-----\2b6ff6e8-e305-4bc6-988f-ca2316229282\scratchpad\slides\icons\target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1965960"/>
            <a:ext cx="365760" cy="3657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549640" y="2011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ข้อค้นพบสำคัญ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046720" y="2514600"/>
            <a:ext cx="3291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สัญญาณเทรนด์ระยะกลางและความผันผวน (volatility_20d, dist_sma20/50, macd_hist) สำคัญที่สุด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ผลตอบแทนรายวัน (ret_1d) สำคัญน้อยที่สุด — เป็นฟีเจอร์ที่มี noise มากและให้ข้อมูลน้อยที่สุด ตรงตามที่คาดไว้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ผลลัพธ์และการประเมิน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ทดสอบกลยุทธ์ย้อนหลัง (เพื่อการศึกษา)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6035040" cy="411480"/>
          </a:xfrm>
          <a:prstGeom prst="roundRect">
            <a:avLst>
              <a:gd name="adj" fmla="val 48889"/>
            </a:avLst>
          </a:prstGeom>
          <a:solidFill>
            <a:srgbClr val="1B2330"/>
          </a:solidFill>
          <a:ln w="12700">
            <a:solidFill>
              <a:srgbClr val="FF6B6B"/>
            </a:solidFill>
            <a:prstDash val="solid"/>
          </a:ln>
        </p:spPr>
      </p:sp>
      <p:pic>
        <p:nvPicPr>
          <p:cNvPr id="7" name="Image 0" descr="C:\Users\NBODT\AppData\Local\Temp\claude\C--Users-NBODT-Desktop-----\2b6ff6e8-e305-4bc6-988f-ca2316229282\scratchpad\slides\icons\alert-triangle-co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80744"/>
            <a:ext cx="219456" cy="21945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51560" y="1280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เพื่อการศึกษาเท่านั้น — ไม่ใช่คำแนะนำการลงทุน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กติกา: ซื้อเมื่อ P(ขึ้น) &gt; 0.55 เท่านั้น นอกนั้นถือเงินสด น้ำหนักเท่ากันทั้ง 20 หุ้น เฉพาะช่วง test ไม่รวมค่าธรรมเนียม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51460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914400" y="278892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3.86x</a:t>
            </a:r>
            <a:endParaRPr lang="en-US" sz="44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3429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100" kern="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กลยุทธ์ตามสัญญาณโมเดล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63640" y="251460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B233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629400" y="278892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12.46x</a:t>
            </a:r>
            <a:endParaRPr lang="en-US" sz="4400" dirty="0"/>
          </a:p>
        </p:txBody>
      </p:sp>
      <p:sp>
        <p:nvSpPr>
          <p:cNvPr id="15" name="Text 12"/>
          <p:cNvSpPr txBox="1"/>
          <p:nvPr/>
        </p:nvSpPr>
        <p:spPr>
          <a:xfrm>
            <a:off x="6629400" y="3429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100" kern="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ซื้อแล้วถือ (น้ำหนักเท่ากัน)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3794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มูลค่าจาก $1 ตลอดช่วง test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629400" y="3794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มูลค่าจาก $1 ตลอดช่วง test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470916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9" name="Image 1" descr="C:\Users\NBODT\AppData\Local\Temp\claude\C--Users-NBODT-Desktop-----\2b6ff6e8-e305-4bc6-988f-ca2316229282\scratchpad\slides\icons\target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937760"/>
            <a:ext cx="320040" cy="32004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280160" y="49377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ทำไมซื้อแล้วถือถึงชนะ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822960" y="53035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ช่วง test เป็นตลาดขาขึ้นแรง การถือเงินสดทุกครั้งที่โมเดลไม่มั่นใจ ทำให้เสียโอกาสมากกว่าความได้เปรียบเล็กน้อยจาก AUC ~0.53 จะชดเชยได้ — ความได้เปรียบทางสถิติไม่ได้แปลว่าจะทำกำไรได้จริงเสมอไป การจับจังหวะตลาดมีต้นทุนค่าเสียโอกาสจริง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อภิปราย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ข้อจำกัด — สิ่งที่โมเดลนี้ยังทำไม่ได้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7" name="Image 0" descr="C:\Users\NBODT\AppData\Local\Temp\claude\C--Users-NBODT-Desktop-----\2b6ff6e8-e305-4bc6-988f-ca2316229282\scratchpad\slides\icons\alert-triangle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856232"/>
            <a:ext cx="265176" cy="26517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52728" y="1700784"/>
            <a:ext cx="10177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สัญญาณยังไม่ชัดเจนมาก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252728" y="1975104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ROC-AUC ≈ 0.50–0.53 ใกล้เคียงการสุ่ม — รายงานตามจริง ไม่ได้ปรับแต่งให้ดูดีเกินจริง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2633472"/>
            <a:ext cx="502920" cy="5029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11" name="Image 1" descr="C:\Users\NBODT\AppData\Local\Temp\claude\C--Users-NBODT-Desktop-----\2b6ff6e8-e305-4bc6-988f-ca2316229282\scratchpad\slides\icons\database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2752344"/>
            <a:ext cx="265176" cy="26517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252728" y="2596896"/>
            <a:ext cx="10177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ไม่มีข้อมูลปัจจัยพื้นฐานหรือเศรษฐกิจมหภาค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1252728" y="2871216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ไม่มีผลประกอบการ อัตราดอกเบี้ย หรือข่าวสารอยู่ในชุดฟีเจอร์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3529584"/>
            <a:ext cx="502920" cy="5029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15" name="Image 2" descr="C:\Users\NBODT\AppData\Local\Temp\claude\C--Users-NBODT-Desktop-----\2b6ff6e8-e305-4bc6-988f-ca2316229282\scratchpad\slides\icons\layers-d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3648456"/>
            <a:ext cx="265176" cy="26517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52728" y="3493008"/>
            <a:ext cx="10177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Survivorship Bias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252728" y="3767328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ใช้เฉพาะบริษัทใหญ่ที่ยังจดทะเบียนอยู่ — ไม่รวมหุ้นที่ถูกถอดออกจากตลาด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48640" y="4425696"/>
            <a:ext cx="502920" cy="5029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19" name="Image 3" descr="C:\Users\NBODT\AppData\Local\Temp\claude\C--Users-NBODT-Desktop-----\2b6ff6e8-e305-4bc6-988f-ca2316229282\scratchpad\slides\icons\shield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" y="4544568"/>
            <a:ext cx="265176" cy="26517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252728" y="4389120"/>
            <a:ext cx="10177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ไม่รวมต้นทุนการซื้อขาย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1252728" y="466344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การทดสอบย้อนหลังไม่ได้รวมค่าธรรมเนียม ส่วนต่างราคา หรือภาษี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548640" y="5321808"/>
            <a:ext cx="502920" cy="5029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23" name="Image 4" descr="C:\Users\NBODT\AppData\Local\Temp\claude\C--Users-NBODT-Desktop-----\2b6ff6e8-e305-4bc6-988f-ca2316229282\scratchpad\slides\icons\activity-d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" y="5440680"/>
            <a:ext cx="265176" cy="265176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252728" y="5285232"/>
            <a:ext cx="10177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ทดสอบย้อนหลังด้าน Sentiment ไม่ได้</a:t>
            </a:r>
            <a:endParaRPr lang="en-US" sz="1500" dirty="0"/>
          </a:p>
        </p:txBody>
      </p:sp>
      <p:sp>
        <p:nvSpPr>
          <p:cNvPr id="25" name="Text 18"/>
          <p:cNvSpPr txBox="1"/>
          <p:nvPr/>
        </p:nvSpPr>
        <p:spPr>
          <a:xfrm>
            <a:off x="1252728" y="555955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ระบบดึงข่าวของ Stockscope ไม่มีข้อมูลข่าวย้อนหลังให้จับคู่กับวันที่ในอดีต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ผลกระทบและบทสรุป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เชื่อมโยงกลับสู่ Stockscope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49240" cy="4434840"/>
          </a:xfrm>
          <a:prstGeom prst="roundRect">
            <a:avLst>
              <a:gd name="adj" fmla="val 1649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ข้อค้นพบสำคัญ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68680" y="2386584"/>
            <a:ext cx="109728" cy="109728"/>
          </a:xfrm>
          <a:prstGeom prst="ellipse">
            <a:avLst/>
          </a:prstGeom>
          <a:solidFill>
            <a:srgbClr val="A3E63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43000" y="224028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ไปป์ไลน์ไม่รั่วไหลข้อมูลอย่างสมบูรณ์: ฟีเจอร์มองย้อนหลัง label มองไปข้างหน้า แยกกันเด็ดขาด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68680" y="3227832"/>
            <a:ext cx="109728" cy="109728"/>
          </a:xfrm>
          <a:prstGeom prst="ellipse">
            <a:avLst/>
          </a:prstGeom>
          <a:solidFill>
            <a:srgbClr val="A3E63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43000" y="308152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XGBoost ชนะ baseline เล็กน้อยที่ระยะยาว แต่ไม่ชนะที่ระยะ 1 วัน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8680" y="4069080"/>
            <a:ext cx="109728" cy="109728"/>
          </a:xfrm>
          <a:prstGeom prst="ellipse">
            <a:avLst/>
          </a:prstGeom>
          <a:solidFill>
            <a:srgbClr val="A3E63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43000" y="3922776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macd_hist, dist_sma50/20 และ volatility เป็นฟีเจอร์ที่ให้ข้อมูลมากที่สุด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68680" y="4910328"/>
            <a:ext cx="109728" cy="109728"/>
          </a:xfrm>
          <a:prstGeom prst="ellipse">
            <a:avLst/>
          </a:prstGeom>
          <a:solidFill>
            <a:srgbClr val="A3E63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43000" y="4764024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ความได้เปรียบทางสถิติเล็กน้อย ≠ กลยุทธ์ที่ทำกำไรได้จริง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63640" y="1691640"/>
            <a:ext cx="5349240" cy="4434840"/>
          </a:xfrm>
          <a:prstGeom prst="roundRect">
            <a:avLst>
              <a:gd name="adj" fmla="val 1649"/>
            </a:avLst>
          </a:prstGeom>
          <a:solidFill>
            <a:srgbClr val="1B233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7" name="Image 0" descr="C:\Users\NBODT\AppData\Local\Temp\claude\C--Users-NBODT-Desktop-----\2b6ff6e8-e305-4bc6-988f-ca2316229282\scratchpad\slides\icons\arrow-right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965960"/>
            <a:ext cx="320040" cy="32004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040880" y="19659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ขั้นต่อไป: นำไปใช้งานจริงในแอป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583680" y="2606040"/>
            <a:ext cx="4663440" cy="1371600"/>
          </a:xfrm>
          <a:prstGeom prst="roundRect">
            <a:avLst>
              <a:gd name="adj" fmla="val 5333"/>
            </a:avLst>
          </a:prstGeom>
          <a:solidFill>
            <a:srgbClr val="0A0E14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812280" y="27889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AI: มีโอกาส 61% ที่ราคาจะปิดสูงขึ้น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ในอีก 10 วันทำการ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812280" y="35204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เป็นการประมาณค่าทางสถิติ ไม่ใช่คำแนะนำทางการเงิน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583680" y="4160520"/>
            <a:ext cx="4663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บันทึกโมเดลที่เทรนแล้วและโหลดเข้าแอป Streamlit วางคู่กับมุมมองทางเทคนิคที่ Stockscope แสดงอยู่แล้วสำหรับทุกหุ้น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· CP020003</a:t>
            </a:r>
            <a:endParaRPr lang="en-US" sz="1000" dirty="0"/>
          </a:p>
        </p:txBody>
      </p:sp>
      <p:pic>
        <p:nvPicPr>
          <p:cNvPr id="4" name="Image 0" descr="C:\Users\NBODT\AppData\Local\Temp\claude\C--Users-NBODT-Desktop-----\2b6ff6e8-e305-4bc6-988f-ca2316229282\scratchpad\slides\icons\trending-up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5808" y="1920240"/>
            <a:ext cx="640080" cy="6400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0" y="274320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ขอบคุณ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0" y="365760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ถาม-ตอบ (Q&amp;A)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0" y="60350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 ·  CP020003 ปัญญาประดิษฐ์  ·  กลุ่ม ___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2026-09-26T09:12:50Z</dcterms:created>
  <dcterms:modified xsi:type="dcterms:W3CDTF">2026-09-26T09:12:50Z</dcterms:modified>
</cp:coreProperties>
</file>