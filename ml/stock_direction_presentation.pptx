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0.5127</c:v>
                </c:pt>
                <c:pt idx="1">
                  <c:v>0.516</c:v>
                </c:pt>
                <c:pt idx="2">
                  <c:v>0.5135</c:v>
                </c:pt>
                <c:pt idx="3">
                  <c:v>0.506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0.5129</c:v>
                </c:pt>
                <c:pt idx="2">
                  <c:v>0.4999</c:v>
                </c:pt>
                <c:pt idx="3">
                  <c:v>0.5005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ความแม่นยำ XGBoost</c:v>
                </c:pt>
              </c:strCache>
            </c:strRef>
          </c:tx>
          <c:spPr>
            <a:solidFill>
              <a:srgbClr val="A3E635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Leelawade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วัน</c:v>
                  </c:pt>
                  <c:pt idx="1">
                    <c:v>5 วัน</c:v>
                  </c:pt>
                  <c:pt idx="2">
                    <c:v>10 วัน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0.506</c:v>
                </c:pt>
                <c:pt idx="1">
                  <c:v>0.5242</c:v>
                </c:pt>
                <c:pt idx="2">
                  <c:v>0.523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(ทายกลุ่มมากสุด)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Leelawade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วัน</c:v>
                  </c:pt>
                  <c:pt idx="1">
                    <c:v>5 วัน</c:v>
                  </c:pt>
                  <c:pt idx="2">
                    <c:v>10 วัน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0.5127</c:v>
                </c:pt>
                <c:pt idx="1">
                  <c:v>0.5306</c:v>
                </c:pt>
                <c:pt idx="2">
                  <c:v>0.527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Leelawade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5B1"/>
                </a:solidFill>
                <a:latin typeface="Leelawade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AA5B1"/>
              </a:solidFill>
              <a:latin typeface="Leelawadee UI"/>
              <a:cs typeface="Leelawade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volatility_20d</c:v>
                  </c:pt>
                  <c:pt idx="1">
                    <c:v>macd_hist</c:v>
                  </c:pt>
                  <c:pt idx="2">
                    <c:v>dist_sma50</c:v>
                  </c:pt>
                  <c:pt idx="3">
                    <c:v>ret_21d</c:v>
                  </c:pt>
                  <c:pt idx="4">
                    <c:v>rsi14</c:v>
                  </c:pt>
                  <c:pt idx="5">
                    <c:v>dist_sma20</c:v>
                  </c:pt>
                  <c:pt idx="6">
                    <c:v>ret_10d</c:v>
                  </c:pt>
                  <c:pt idx="7">
                    <c:v>ret_5d</c:v>
                  </c:pt>
                  <c:pt idx="8">
                    <c:v>vol_ratio</c:v>
                  </c:pt>
                  <c:pt idx="9">
                    <c:v>ret_1d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0.0943</c:v>
                </c:pt>
                <c:pt idx="1">
                  <c:v>0.0948</c:v>
                </c:pt>
                <c:pt idx="2">
                  <c:v>0.095</c:v>
                </c:pt>
                <c:pt idx="3">
                  <c:v>0.0965</c:v>
                </c:pt>
                <c:pt idx="4">
                  <c:v>0.0974</c:v>
                </c:pt>
                <c:pt idx="5">
                  <c:v>0.0981</c:v>
                </c:pt>
                <c:pt idx="6">
                  <c:v>0.1023</c:v>
                </c:pt>
                <c:pt idx="7">
                  <c:v>0.1034</c:v>
                </c:pt>
                <c:pt idx="8">
                  <c:v>0.1069</c:v>
                </c:pt>
                <c:pt idx="9">
                  <c:v>0.1112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5F5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ทำนายทิศทางหุ้น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ด้วย XGBoost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 Machine Learning แบบไม่รั่วไหลข้อมูล ต่อยอดจากแดชบอร์ดที่ใช้งานจริง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89204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141A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___  ·  [ชื่อทีมที่นี่]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CP020003 · ปัญญาประดิษฐ์ · โปรเจกต์จบภาคการศึกษา · มหาวิทยาลัยขอนแก่น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0" y="5212080"/>
            <a:ext cx="256032" cy="91440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9" name="Shape 7"/>
          <p:cNvSpPr/>
          <p:nvPr/>
        </p:nvSpPr>
        <p:spPr>
          <a:xfrm>
            <a:off x="9162288" y="4663440"/>
            <a:ext cx="256032" cy="14630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0" name="Shape 8"/>
          <p:cNvSpPr/>
          <p:nvPr/>
        </p:nvSpPr>
        <p:spPr>
          <a:xfrm>
            <a:off x="9546336" y="5394960"/>
            <a:ext cx="256032" cy="73152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1" name="Shape 9"/>
          <p:cNvSpPr/>
          <p:nvPr/>
        </p:nvSpPr>
        <p:spPr>
          <a:xfrm>
            <a:off x="9930384" y="4206240"/>
            <a:ext cx="256032" cy="192024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14432" y="4937760"/>
            <a:ext cx="256032" cy="118872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0" y="4389120"/>
            <a:ext cx="256032" cy="17373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82528" y="5120640"/>
            <a:ext cx="256032" cy="10058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66576" y="3931920"/>
            <a:ext cx="256032" cy="21945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ทีมของเรา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สมาชิกในกลุ่ม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กลุ่มที่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___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ชื่อกลุ่ม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[ชื่อทีมที่นี่]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3291840"/>
        </p:xfrm>
        <a:graphic>
          <a:graphicData uri="http://schemas.openxmlformats.org/drawingml/2006/table">
            <a:tbl>
              <a:tblPr/>
              <a:tblGrid>
                <a:gridCol w="1097280"/>
                <a:gridCol w="630936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#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ชื่อนักศึกษา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รหัสนักศึกษา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2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3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ที่มาและหัวข้อ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ทำไมถึงทำโปรเจกต์นี้?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เราสร้าง Stockscope ไว้แล้ว — แดชบอร์ดที่คำนวณ RSI, MACD, ค่าเฉลี่ยเคลื่อนที่ และโซนแนวรับ-แนวต้าน ให้หุ้นทุกตัวแบบเรียลไทม์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คำถามที่ตามมาคือสิ่งที่เราทดสอบได้จริงด้วยข้อมูลที่มีอยู่แล้ว: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“อินดิเคเตอร์เดียวกันนี้ ทำนายทิศทางราคาถัดไปได้ไหม?”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269480" y="1947672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2" name="Image 0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130552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8388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แดชบอร์ดเรียลไทม์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· MACD · SMA · Volume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คำนวณแบบวันต่อวัน</a:t>
            </a:r>
            <a:endParaRPr lang="en-US" sz="1100" dirty="0"/>
          </a:p>
        </p:txBody>
      </p:sp>
      <p:pic>
        <p:nvPicPr>
          <p:cNvPr id="15" name="Image 1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985516"/>
            <a:ext cx="182880" cy="1828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040880" y="3227832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69480" y="3483864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666744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83880" y="33741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คำถามหลัก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37307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ขึ้นหรือลง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ในอีก N วันข้างหน้า?</a:t>
            </a:r>
            <a:endParaRPr lang="en-US" sz="1100" dirty="0"/>
          </a:p>
        </p:txBody>
      </p:sp>
      <p:pic>
        <p:nvPicPr>
          <p:cNvPr id="21" name="Image 3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4521708"/>
            <a:ext cx="182880" cy="1828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040880" y="4764024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269480" y="5020056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4" name="Image 4" descr="C:\Users\NBODT\AppData\Local\Temp\claude\C--Users-NBODT-Desktop-----\2b6ff6e8-e305-4bc6-988f-ca2316229282\scratchpad\slides\icons\cpu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202936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8388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 ML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5266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จำแนกสองกลุ่ม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เทรนจากข้อมูลย้อนหลัง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โจทย์ AI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มองเป็นปัญหา Machine Learning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การจำแนกแบบสองกลุ่ม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23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1  if Close[t+N] &gt; Close[t]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0  otherwise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Input: อินดิเคเตอร์ทางเทคนิคจนถึงวันที่ 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Output: ความน่าจะเป็นที่ราคาจะสูงขึ้นในอีก N วัน</a:t>
            </a:r>
            <a:endParaRPr lang="en-US" sz="1300" dirty="0"/>
          </a:p>
        </p:txBody>
      </p:sp>
      <p:pic>
        <p:nvPicPr>
          <p:cNvPr id="10" name="Image 0" descr="C:\Users\NBODT\AppData\Local\Temp\claude\C--Users-NBODT-Desktop-----\2b6ff6e8-e305-4bc6-988f-ca2316229282\scratchpad\slides\icons\za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160520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4105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เทรนเร็ว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44165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ฝึกบน CPU ได้ และตรวจผลซ้ำได้ใน Notebook</a:t>
            </a:r>
            <a:endParaRPr lang="en-US" sz="1100" dirty="0"/>
          </a:p>
        </p:txBody>
      </p:sp>
      <p:pic>
        <p:nvPicPr>
          <p:cNvPr id="13" name="Image 1" descr="C:\Users\NBODT\AppData\Local\Temp\claude\C--Users-NBODT-Desktop-----\2b6ff6e8-e305-4bc6-988f-ca2316229282\scratchpad\slides\icons\layers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72744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46725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เหมาะกับข้อมูลตาราง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ฟีเจอร์ของเราคือตัวเลขอินดิเคเตอร์ ไม่ใช่รูปภาพหรือข้อความ</a:t>
            </a:r>
            <a:endParaRPr lang="en-US" sz="1100" dirty="0"/>
          </a:p>
        </p:txBody>
      </p:sp>
      <p:pic>
        <p:nvPicPr>
          <p:cNvPr id="16" name="Image 2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9437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52395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อธิบายได้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280160" y="5550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Feature Importance ช่วยดูว่าโมเดลใช้ฟีเจอร์ใด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0" name="Image 3" descr="C:\Users\NBODT\AppData\Local\Temp\claude\C--Users-NBODT-Desktop-----\2b6ff6e8-e305-4bc6-988f-ca2316229282\scratchpad\slides\icons\databas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202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17647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2057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OHLCV 5 ปี, 20 หุ้น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766560" y="233172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4" name="Shape 18"/>
          <p:cNvSpPr/>
          <p:nvPr/>
        </p:nvSpPr>
        <p:spPr>
          <a:xfrm>
            <a:off x="6492240" y="283464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5" name="Image 4" descr="C:\Users\NBODT\AppData\Local\Temp\claude\C--Users-NBODT-Desktop-----\2b6ff6e8-e305-4bc6-988f-ca2316229282\scratchpad\slides\icons\activity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69480" y="28163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69480" y="3108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· MACD · SMA · Vol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766560" y="338328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9" name="Shape 22"/>
          <p:cNvSpPr/>
          <p:nvPr/>
        </p:nvSpPr>
        <p:spPr>
          <a:xfrm>
            <a:off x="6492240" y="388620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0" name="Image 5" descr="C:\Users\NBODT\AppData\Local\Temp\claude\C--Users-NBODT-Desktop-----\2b6ff6e8-e305-4bc6-988f-ca2316229282\scratchpad\slides\icons\cpu-li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02336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69480" y="38679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726948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classifier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766560" y="443484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34" name="Shape 26"/>
          <p:cNvSpPr/>
          <p:nvPr/>
        </p:nvSpPr>
        <p:spPr>
          <a:xfrm>
            <a:off x="6492240" y="493776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5" name="Image 6" descr="C:\Users\NBODT\AppData\Local\Temp\claude\C--Users-NBODT-Desktop-----\2b6ff6e8-e305-4bc6-988f-ca2316229282\scratchpad\slides\icons\bar-chart-lim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507492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269480" y="49194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ผลทำนาย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7269480" y="5212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P(ขึ้น) ใน N วัน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ชุดข้อมูลและ EDA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 (Dataset)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จำนวนหุ้น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ปี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ข้อมูลรายวัน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25,080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แถวข้อมูลทั้งหมด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ข้อมูลขาดหาย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แหล่งข้อมูลเดียวกับที่ Stockscope ใช้งานจริง: Yahoo Finance ผ่าน yfinance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ช่วงข้อมูล: 2021-10-04  →  2026-10-01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กลุ่มอุตสาหกรรมที่ครอบคลุม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527048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57200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เทคโนโลยี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58568" y="4572000"/>
            <a:ext cx="128930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58568" y="4572000"/>
            <a:ext cx="1289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การเงิน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30752" y="4572000"/>
            <a:ext cx="128930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30752" y="4572000"/>
            <a:ext cx="1289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พลังงาน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02936" y="4572000"/>
            <a:ext cx="1170432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02936" y="457200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สุขภาพ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2596896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20640"/>
            <a:ext cx="2596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สินค้าอุปโภคบริโภค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28416" y="5120640"/>
            <a:ext cx="188366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328416" y="5120640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สื่อ/บันเทิง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0" y="169164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6352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ตัวอย่างหุ้นที่ใช้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635240" y="22860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AAPL · MSFT · NVDA · JPM · XOM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JNJ · AMZN · KO · GOOGL · META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WMT · PG · V · MA · DIS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NFLX · AMD · INTC · BAC · CVX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42976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สิ่งที่เห็นจากข้อมูล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46634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Train: วันขึ้น 52.0%  ·  Test: วันขึ้น 51.3%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635240" y="50292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 OHLCV ขาดหาย 0 ค่า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635240" y="53949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ข้อจำกัด: เฉพาะหุ้นที่ยังจดทะเบียนอยู่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760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หลายอุตสาหกรรม ไม่ใช่หุ้นเดียว — ลดความเสี่ยงที่โมเดลเรียนรู้เฉพาะบริษัทเดียว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 — สิ่งที่โมเดลมองเห็น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8" name="Image 0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76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2704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ret_1d / 5d / 10d / 21d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2704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ผลตอบแทนย้อนหลัง 1–21 วันทำการ (โมเมนตัม)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0936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3" name="Image 1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8776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rsi14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28776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14 วัน — ซื้อมากไปหรือขายมากไป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657600"/>
            <a:ext cx="265176" cy="265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2704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macd_hist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52704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 Histogram (ความแรง &amp; ทิศทางเทรนด์)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30936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8368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3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3657600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8776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dist_sma20 / dist_sma50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28776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% ระยะห่างจากเส้นค่าเฉลี่ย 20/50 วัน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8" name="Image 4" descr="C:\Users\NBODT\AppData\Local\Temp\claude\C--Users-NBODT-Desktop-----\2b6ff6e8-e305-4bc6-988f-ca2316229282\scratchpad\slides\icons\zap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138928"/>
            <a:ext cx="265176" cy="26517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2704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vol_ratio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152704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ปริมาณซื้อขายวันนี้ เทียบค่าเฉลี่ย 20 วัน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30936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58368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33" name="Image 5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552" y="5138928"/>
            <a:ext cx="265176" cy="26517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8776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volatility_20d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8776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ส่วนเบี่ยงเบนมาตรฐานผลตอบแทนรายวัน (ความผันผวน)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คำนวณด้วยหน้าต่างข้อมูลย้อนหลังเท่านั้น (rolling / ewm) — เรื่องการออกแบบป้องกันข้อมูลรั่วไหลต่อในสไลด์ถัดไป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ป้องกันข้อมูลรั่วไหล (Data Leakage)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การตัดสินใจออกแบบที่สำคัญที่สุด — ตรงกับเกณฑ์ “ระเบียบวิธีไม่รั่วไหลข้อมูล มีเหตุผลรองรับ” ในเกณฑ์การให้คะแนน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x-circ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แบ่งข้อมูลแบบสุ่ม 80/20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ข้อมูลสัปดาห์เดียวกันหลุดไปอยู่ทั้งฝั่ง train และ test อินดิเคเตอร์มีความสัมพันธ์กันในตัวเอง (autocorrelated) — โมเดลจะจำช่วง test แทนที่จะเรียนรู้ภาพรวม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C:\Users\NBODT\AppData\Local\Temp\claude\C--Users-NBODT-Desktop-----\2b6ff6e8-e305-4bc6-988f-ca2316229282\scratchpad\slides\icons\check-circl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ตัดข้อมูลตามวันที่เดียวทั้งชุด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ทุกแถวของ train เกิดก่อนทุกแถวของ test ทั้ง 20 หุ้นพร้อมกัน และตัดแถว train ที่ label (วันที่เป้าหมาย) ไปถึงช่วง test ออก (purge) การทำ CV ก็แบ่งตามวันที่และ purge เช่นกัน — เทรนจากอดีต ทดสอบกับอนาคตที่ไม่เคยเห็น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2021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1060704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2026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349240"/>
            <a:ext cx="7863840" cy="502920"/>
          </a:xfrm>
          <a:prstGeom prst="roundRect">
            <a:avLst>
              <a:gd name="adj" fmla="val 10909"/>
            </a:avLst>
          </a:prstGeom>
          <a:solidFill>
            <a:srgbClr val="A3E635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534924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FF6B6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48640" y="5349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TRAIN  —  19,240 แถว  (ธ.ค. 2021 → ต.ค. 2025)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53492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TEST  —  4,820 แถว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cutoff: 2025-10-15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การเทรนโมเดล — Baseline เทียบ XGBoost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โมเดลเชิงเส้นพื้นฐานที่สุด (standardize ฟีเจอร์ก่อน)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 tree-ensemble อีกตัว ไม่มี boosting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(ของเรา)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horizon + hyperparameter ด้วย CV ตามวันที่ + purge — ใช้เฉพาะชุด train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HORIZON — TimeSeriesSplit (4 folds ตามวันที่ + purge) บนชุด train เท่านั้น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B2330"/>
          </a:solidFill>
          <a:ln w="12700">
            <a:solidFill>
              <a:srgbClr val="A3E6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06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 = 1d  · max_depth=3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206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0.507  ✓ ดีที่สุด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28032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828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 = 5d  · max_depth=4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828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0.496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4498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 = 10d · max_depth=4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54498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0.482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21040" y="3794760"/>
            <a:ext cx="3291840" cy="2423160"/>
          </a:xfrm>
          <a:prstGeom prst="roundRect">
            <a:avLst>
              <a:gd name="adj" fmla="val 301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ค่าที่ใช้จริง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95360" y="434340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horizon: 1 day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max_depth: 3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learning_rate: 0.05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n_estimators: 200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subsample: 0.8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เปรียบเทียบโมเดลบนชุดทดสอบ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ความแม่นยำ (Accuracy)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0936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8680" y="50749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XGBoost: accuracy 50.6% เทียบ baseline ที่ทายกลุ่มมากสุด 51.3% · ROC-AUC 0.5005 (ช่วงความเชื่อมั่น 95% คือ 0.485–0.516 ครอบคลุม 0.5) จึงยังไม่พบว่าดีกว่าการเดาสุ่ม แต่ไม่ได้พิสูจน์ว่าเท่ากับ 0.5 พอดี · Logistic Regression และ Random Forest อยู่ในระดับใกล้เคียงกัน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ระยะเวลาทำนายมีผลไหม?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 3 ระยะเวลาเพื่อรายงานผลเท่านั้น — horizon หลักถูกเลือกจาก CV ในชุด train ไปแล้ว (ไม่ได้เลือกจากชุด test)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78308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46720" y="1965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 ตามระยะเวลา (ชุด test)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วัน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01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0.5005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974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95%: 0.485 – 0.516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0815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วัน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0" y="3081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4472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95%: 0.485 – 0.534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38313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วัน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0" y="3831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0.5225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19709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95%: 0.492 – 0.556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สุ่มล้วนๆ = 0.500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4846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ทุกระยะเวลา ช่วงความเชื่อมั่นครอบคลุม 0.5 — ยังไม่พบสัญญาณที่ดีกว่าการสุ่ม สอดคล้องกับทฤษฎีตลาดมีประสิทธิภาพ (แต่ไม่ได้พิสูจน์)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หมายเหตุ: ตัวเลขทั้งหมดมาจากการรันบน Colab (ข้อมูล 2021-10-04 ถึง 2026-10-01) · รันต่างเครื่องหรือต่างเวอร์ชันไลบรารีอาจต่างกันเล็กน้อย (ที่เจอไม่เกิน ~0.005 ของ AUC) ข้อสรุปไม่เปลี่ยน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โมเดลให้ความสำคัญกับอะไรบ้าง?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691640"/>
            <a:ext cx="3840480" cy="457200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9659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ข้อค้นพบสำคัญ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25146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ความสำคัญของทุกฟีเจอร์อยู่ในช่วงแคบ (0.094–0.111) ไม่มีฟีเจอร์ไหนโดดเด่นชัดเจน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ค่านี้แค่อธิบายว่าโมเดลใช้อะไร ไม่ได้พิสูจน์ว่าฟีเจอร์ใดทำให้ราคาขยับ — หลักฐานหลักมาจากการทดสอบบนชุด test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ทดสอบกลยุทธ์ย้อนหลัง (เพื่อการศึกษา)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603504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7" name="Image 0" descr="C:\Users\NBODT\AppData\Local\Temp\claude\C--Users-NBODT-Desktop-----\2b6ff6e8-e305-4bc6-988f-ca2316229282\scratchpad\slides\icons\alert-triang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80744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เพื่อการศึกษาเท่านั้น — ไม่ใช่คำแนะนำการลงทุน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กติกา: ใช้โมเดล 1 วัน ถือหุ้นวันถัดไปเมื่อ P(ขึ้น) &gt; 0.55 นอกนั้นถือเงินสด น้ำหนักเท่ากันทั้ง 20 หุ้น ช่วง test ไม่รวมค่าธรรมเนียม และใช้ราคาปิดวันเดียวกัน (ผลจริงน่าจะแย่กว่านี้)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14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1.08x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กลยุทธ์ตามสัญญาณโมเดล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63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29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1.28x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ซื้อแล้วถือ (น้ำหนักเท่ากัน)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มูลค่าจาก $1 ตลอดช่วง test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มูลค่าจาก $1 ตลอดช่วง test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3776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80160" y="4937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ทำไมซื้อแล้วถือถึงชนะ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กลยุทธ์ถือหุ้นเฉลี่ยราว 20% ของโอกาสทั้งหมดและได้ผลต่ำกว่าซื้อแล้วถือ ช่วง test ตลาดโดยรวมขึ้น การอยู่ในเงินสดจึงพลาดวันขึ้นไปหลายวัน การจำลองนี้ไม่รวมต้นทุนและซื้อที่ราคาปิดวันเดียวกับสัญญาณ ซึ่งทำจริงไม่ได้เป๊ะ — ความได้เปรียบทางสถิติเล็กน้อยไม่เท่ากับกลยุทธ์ที่ทำกำไรได้จริง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อภิปราย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 — สิ่งที่โมเดลนี้ยังทำไม่ได้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7" name="Image 0" descr="C:\Users\NBODT\AppData\Local\Temp\claude\C--Users-NBODT-Desktop-----\2b6ff6e8-e305-4bc6-988f-ca2316229282\scratchpad\slides\icons\alert-triangle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856232"/>
            <a:ext cx="265176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1700784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ไม่พบความได้เปรียบทางสถิติ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52728" y="1975104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 ของ ROC-AUC ครอบคลุม 0.5 ทุกโมเดล ทุก horizon — รายงานตามจริง ไม่ปรับแต่งให้ดูดี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1" name="Image 1" descr="C:\Users\NBODT\AppData\Local\Temp\claude\C--Users-NBODT-Desktop-----\2b6ff6e8-e305-4bc6-988f-ca2316229282\scratchpad\slides\icons\database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752344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52728" y="2596896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ไม่มีข้อมูลปัจจัยพื้นฐานหรือเศรษฐกิจมหภาค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52728" y="2871216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ไม่มีผลประกอบการ อัตราดอกเบี้ย หรือข่าวสารอยู่ในชุดฟีเจอร์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5" name="Image 2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648456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52728" y="3493008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Survivorship Bias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52728" y="3767328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ใช้เฉพาะบริษัทใหญ่ที่ยังจดทะเบียนอยู่ — ไม่รวมหุ้นที่ถูกถอดออกจากตลาด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9" name="Image 3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544568"/>
            <a:ext cx="265176" cy="26517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2728" y="4389120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ไม่รวมต้นทุนการซื้อขาย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52728" y="466344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ไม่รวมค่าธรรมเนียม ส่วนต่างราคา หรือภาษี และสมมติซื้อที่ราคาปิดวันเดียวกับที่ได้สัญญาณ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4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440680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52728" y="5285232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ตัวอย่างอิสระจริงมีน้อยกว่าจำนวนแถว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1252728" y="5559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หุ้นขยับพร้อมกันทุกวัน และ label ของวันติดกันซ้อนทับกัน จึงใช้ block bootstrap ประเมินความไม่แน่นอน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ผลกระทบและบทสรุป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เชื่อมโยงกลับสู่ Stockscope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ข้อค้นพบสำคัญ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386584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22402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ไปป์ไลน์ไม่รั่วไหลข้อมูล: label แยกจากฟีเจอร์ มี purge และเลือก horizon/hyperparameter จากชุด train เท่านั้น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227832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08152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ยังไม่พบว่าโมเดลไหน (รวม XGBoost) ดีกว่าการเดาสุ่ม — ช่วงความเชื่อมั่นของ AUC ครอบคลุม 0.5 ทุก horizon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4069080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Feature Importance บอกว่าโมเดลใช้ฟีเจอร์ใด แต่ต้องดูผลทดสอบเพื่อประเมินความสามารถทำนาย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4910328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476402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 “ไม่พบ” ก็เป็นข้อค้นพบ — คุณค่าของงานนี้คือวิธีประเมินที่เชื่อถือได้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C:\Users\NBODT\AppData\Local\Temp\claude\C--Users-NBODT-Desktop-----\2b6ff6e8-e305-4bc6-988f-ca2316229282\scratchpad\slides\icons\arrow-right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96596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4088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ขั้นต่อไป: ต่อยอดใน Stockscope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6060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0A0E1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812280" y="27249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 UI ในอนาคต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(ทดลอง): โอกาสขึ้น 52%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ความมั่นใจต่ำ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เป็นการประมาณค่าทางสถิติ ไม่ใช่คำแนะนำทางการเงิน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83680" y="41605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เพิ่มข้อมูลที่อินดิเคเตอร์ไม่มี (งบการเงิน เศรษฐกิจมหภาค sentiment ข่าวย้อนหลัง) แล้วรันไปป์ไลน์เดิมซ้ำ — ถ้าพบความได้เปรียบจริง ค่อยแสดงในแอปเป็นค่าประมาณแบบทดลอง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pic>
        <p:nvPicPr>
          <p:cNvPr id="4" name="Image 0" descr="C:\Users\NBODT\AppData\Local\Temp\claude\C--Users-NBODT-Desktop-----\2b6ff6e8-e305-4bc6-988f-ca2316229282\scratchpad\slides\icons\trending-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920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 (Q&amp;A)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 ·  CP020003 ปัญญาประดิษฐ์  ·  กลุ่ม ___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2026-10-02T09:04:10Z</dcterms:created>
  <dcterms:modified xsi:type="dcterms:W3CDTF">2026-10-02T09:04:10Z</dcterms:modified>
</cp:coreProperties>
</file>