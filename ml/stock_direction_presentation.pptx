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0.5072</c:v>
                </c:pt>
                <c:pt idx="1">
                  <c:v>0.5085</c:v>
                </c:pt>
                <c:pt idx="2">
                  <c:v>0.5087</c:v>
                </c:pt>
                <c:pt idx="3">
                  <c:v>0.5246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0.5166</c:v>
                </c:pt>
                <c:pt idx="2">
                  <c:v>0.5361</c:v>
                </c:pt>
                <c:pt idx="3">
                  <c:v>0.5262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XGBoost Accuracy</c:v>
                </c:pt>
              </c:strCache>
            </c:strRef>
          </c:tx>
          <c:spPr>
            <a:solidFill>
              <a:srgbClr val="A3E635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5 days</c:v>
                  </c:pt>
                  <c:pt idx="2">
                    <c:v>10 days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0.5041</c:v>
                </c:pt>
                <c:pt idx="1">
                  <c:v>0.5136</c:v>
                </c:pt>
                <c:pt idx="2">
                  <c:v>0.5246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Majority Baseline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5 days</c:v>
                  </c:pt>
                  <c:pt idx="2">
                    <c:v>10 days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0.513</c:v>
                </c:pt>
                <c:pt idx="1">
                  <c:v>0.5221</c:v>
                </c:pt>
                <c:pt idx="2">
                  <c:v>0.5072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AA5B1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ret_1d</c:v>
                  </c:pt>
                  <c:pt idx="1">
                    <c:v>ret_5d</c:v>
                  </c:pt>
                  <c:pt idx="2">
                    <c:v>ret_10d</c:v>
                  </c:pt>
                  <c:pt idx="3">
                    <c:v>vol_ratio</c:v>
                  </c:pt>
                  <c:pt idx="4">
                    <c:v>rsi14</c:v>
                  </c:pt>
                  <c:pt idx="5">
                    <c:v>ret_21d</c:v>
                  </c:pt>
                  <c:pt idx="6">
                    <c:v>macd_hist</c:v>
                  </c:pt>
                  <c:pt idx="7">
                    <c:v>dist_sma50</c:v>
                  </c:pt>
                  <c:pt idx="8">
                    <c:v>dist_sma20</c:v>
                  </c:pt>
                  <c:pt idx="9">
                    <c:v>volatility_20d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0.0782</c:v>
                </c:pt>
                <c:pt idx="1">
                  <c:v>0.0902</c:v>
                </c:pt>
                <c:pt idx="2">
                  <c:v>0.0945</c:v>
                </c:pt>
                <c:pt idx="3">
                  <c:v>0.0948</c:v>
                </c:pt>
                <c:pt idx="4">
                  <c:v>0.1015</c:v>
                </c:pt>
                <c:pt idx="5">
                  <c:v>0.1043</c:v>
                </c:pt>
                <c:pt idx="6">
                  <c:v>0.1049</c:v>
                </c:pt>
                <c:pt idx="7">
                  <c:v>0.1076</c:v>
                </c:pt>
                <c:pt idx="8">
                  <c:v>0.1077</c:v>
                </c:pt>
                <c:pt idx="9">
                  <c:v>0.1163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5F5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Direction Prediction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XGBoost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leakage-free machine learning pipeline extending our live dashboard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89204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141A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___  ·  [Team Name Here]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17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CP020003 · Artificial Intelligence · Final Project · Khon Kaen University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0" y="5212080"/>
            <a:ext cx="256032" cy="91440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9" name="Shape 7"/>
          <p:cNvSpPr/>
          <p:nvPr/>
        </p:nvSpPr>
        <p:spPr>
          <a:xfrm>
            <a:off x="9162288" y="4663440"/>
            <a:ext cx="256032" cy="14630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0" name="Shape 8"/>
          <p:cNvSpPr/>
          <p:nvPr/>
        </p:nvSpPr>
        <p:spPr>
          <a:xfrm>
            <a:off x="9546336" y="5394960"/>
            <a:ext cx="256032" cy="73152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1" name="Shape 9"/>
          <p:cNvSpPr/>
          <p:nvPr/>
        </p:nvSpPr>
        <p:spPr>
          <a:xfrm>
            <a:off x="9930384" y="4206240"/>
            <a:ext cx="256032" cy="192024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14432" y="4937760"/>
            <a:ext cx="256032" cy="118872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0" y="4389120"/>
            <a:ext cx="256032" cy="17373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82528" y="5120640"/>
            <a:ext cx="256032" cy="10058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66576" y="3931920"/>
            <a:ext cx="256032" cy="21945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Name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 Here]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91840"/>
        </p:xfrm>
        <a:graphic>
          <a:graphicData uri="http://schemas.openxmlformats.org/drawingml/2006/table">
            <a:tbl>
              <a:tblPr/>
              <a:tblGrid>
                <a:gridCol w="1097280"/>
                <a:gridCol w="630936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_______________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TOPIC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Project?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built Stockscope — a live dashboard that computes RSI, MACD, moving averages, and support/resistance zones for any stock, in real time.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raised a natural question we could actually test with data we already had: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the same indicators predict where the price goes next?”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269480" y="1947672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2" name="Image 0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130552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8388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· MACD · SMA · Volume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today</a:t>
            </a:r>
            <a:endParaRPr lang="en-US" sz="1100" dirty="0"/>
          </a:p>
        </p:txBody>
      </p:sp>
      <p:pic>
        <p:nvPicPr>
          <p:cNvPr id="15" name="Image 1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985516"/>
            <a:ext cx="182880" cy="1828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040880" y="3227832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69480" y="3483864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666744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83880" y="33741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37307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or down over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N days?</a:t>
            </a:r>
            <a:endParaRPr lang="en-US" sz="1100" dirty="0"/>
          </a:p>
        </p:txBody>
      </p:sp>
      <p:pic>
        <p:nvPicPr>
          <p:cNvPr id="21" name="Image 3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521708"/>
            <a:ext cx="182880" cy="1828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040880" y="4764024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269480" y="5020056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4" name="Image 4" descr="C:\Users\NBODT\AppData\Local\Temp\claude\C--Users-NBODT-Desktop-----\2b6ff6e8-e305-4bc6-988f-ca2316229282\scratchpad\slides\icons\cpu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202936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8388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5266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history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TASK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 It as Machine Learning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 Classification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1  if Close[t+N] &gt; Close[t]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0  otherwise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features: technical indicators up to day 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probability price is higher N trading days later</a:t>
            </a:r>
            <a:endParaRPr lang="en-US" sz="1300" dirty="0"/>
          </a:p>
        </p:txBody>
      </p:sp>
      <p:pic>
        <p:nvPicPr>
          <p:cNvPr id="10" name="Image 0" descr="C:\Users\NBODT\AppData\Local\Temp\claude\C--Users-NBODT-Desktop-----\2b6ff6e8-e305-4bc6-988f-ca2316229282\scratchpad\slides\icons\za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16052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4105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train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44165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Iterates in seconds on a laptop or free Colab CPU</a:t>
            </a:r>
            <a:endParaRPr lang="en-US" sz="1100" dirty="0"/>
          </a:p>
        </p:txBody>
      </p:sp>
      <p:pic>
        <p:nvPicPr>
          <p:cNvPr id="13" name="Image 1" descr="C:\Users\NBODT\AppData\Local\Temp\claude\C--Users-NBODT-Desktop-----\2b6ff6e8-e305-4bc6-988f-ca2316229282\scratchpad\slides\icons\layers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72744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46725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Tabular-native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features are indicator numbers, not images or text</a:t>
            </a:r>
            <a:endParaRPr lang="en-US" sz="1100" dirty="0"/>
          </a:p>
        </p:txBody>
      </p:sp>
      <p:pic>
        <p:nvPicPr>
          <p:cNvPr id="16" name="Image 2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9437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52395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280160" y="5550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shows *why*, not just a number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0" name="Image 3" descr="C:\Users\NBODT\AppData\Local\Temp\claude\C--Users-NBODT-Desktop-----\2b6ff6e8-e305-4bc6-988f-ca2316229282\scratchpad\slides\icons\databas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17647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2057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5y OHLCV, 20 tickers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766560" y="233172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4" name="Shape 18"/>
          <p:cNvSpPr/>
          <p:nvPr/>
        </p:nvSpPr>
        <p:spPr>
          <a:xfrm>
            <a:off x="6492240" y="283464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5" name="Image 4" descr="C:\Users\NBODT\AppData\Local\Temp\claude\C--Users-NBODT-Desktop-----\2b6ff6e8-e305-4bc6-988f-ca2316229282\scratchpad\slides\icons\activity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9480" y="28163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69480" y="3108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· MACD · SMA · Vol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766560" y="338328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9" name="Shape 22"/>
          <p:cNvSpPr/>
          <p:nvPr/>
        </p:nvSpPr>
        <p:spPr>
          <a:xfrm>
            <a:off x="6492240" y="388620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0" name="Image 5" descr="C:\Users\NBODT\AppData\Local\Temp\claude\C--Users-NBODT-Desktop-----\2b6ff6e8-e305-4bc6-988f-ca2316229282\scratchpad\slides\icons\cpu-li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02336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69480" y="38679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726948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classifier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766560" y="443484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34" name="Shape 26"/>
          <p:cNvSpPr/>
          <p:nvPr/>
        </p:nvSpPr>
        <p:spPr>
          <a:xfrm>
            <a:off x="6492240" y="493776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5" name="Image 6" descr="C:\Users\NBODT\AppData\Local\Temp\claude\C--Users-NBODT-Desktop-----\2b6ff6e8-e305-4bc6-988f-ca2316229282\scratchpad\slides\icons\bar-chart-li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507492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269480" y="4919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7269480" y="5212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P(up) in N days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EDA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yrs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HISTORY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25,100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 source that powers Stockscope live: Yahoo Finance via yfinance.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2021-09-27  →  2026-09-25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COVERED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32588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5720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057400" y="4572000"/>
            <a:ext cx="1024128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057400" y="4572000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4408" y="4572000"/>
            <a:ext cx="92354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64408" y="4572000"/>
            <a:ext cx="92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70832" y="4572000"/>
            <a:ext cx="132588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370832" y="45720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24712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20640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856232" y="5120640"/>
            <a:ext cx="82296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856232" y="51206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0" y="169164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6352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TICKERS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635240" y="22860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AAPL · MSFT · NVDA · JPM · XOM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JNJ · AMZN · KO · GOOGL · META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WMT · PG · V · MA · DIS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NFLX · AMD · INTC · BAC · CVX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434340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sectors, not one stock — reduces the risk of learning one company's quirks instead of general indicator behavior.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— What the Model Sees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8" name="Image 0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76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2704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ret_1d / 5d / 10d / 21d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2704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return, 1–21 trading days (momentum)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0936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3" name="Image 1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8776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rsi14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RSI — overbought vs. oversold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657600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2704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macd_hist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52704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histogram (trend strength &amp; direction)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8368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3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3657600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8776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dist_sma20 / dist_sma50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28776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distance from the 20/50-day moving average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8" name="Image 4" descr="C:\Users\NBODT\AppData\Local\Temp\claude\C--Users-NBODT-Desktop-----\2b6ff6e8-e305-4bc6-988f-ca2316229282\scratchpad\slides\icons\zap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138928"/>
            <a:ext cx="265176" cy="265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2704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vol_ratio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52704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volume vs. its 20-day average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30936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58368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33" name="Image 5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5138928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8776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volatility_20d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8776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std-dev of daily returns (choppiness)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computed with rolling / ewm windows that only look backward in time — the anti-leakage design continues on the next slide.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Avoiding Data Leakage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design decision — directly targets “leakage-free, well-justified methodology” in the grading rubric.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x-circ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80/20 row split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from the same week end up on both sides. Indicators are autocorrelated — the model partly memorizes the test period instead of generalizing.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C:\Users\NBODT\AppData\Local\Temp\claude\C--Users-NBODT-Desktop-----\2b6ff6e8-e305-4bc6-988f-ca2316229282\scratchpad\slides\icons\check-circl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global date cutoff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training row happens strictly before every test row, across all 20 tickers at once — mimicking real deployment: train on the past, evaluate on the unseen future.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060704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349240"/>
            <a:ext cx="7863840" cy="502920"/>
          </a:xfrm>
          <a:prstGeom prst="roundRect">
            <a:avLst>
              <a:gd name="adj" fmla="val 10909"/>
            </a:avLst>
          </a:prstGeom>
          <a:solidFill>
            <a:srgbClr val="A3E635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534924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FF6B6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48640" y="5349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—  19,280 rows  (2021–10 → 2025–10)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5349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—  4,840 rows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2025-10-09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Training — Baselines vs. XGBoost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linear baseline (features standardized)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tree-ensemble baseline, no boosting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(ours)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with TimeSeriesSplit CV — inside training data only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SEARCH — TimeSeriesSplit (4 folds), training set only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206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max_depth=3, lr=0.05, n=200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206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 0.499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28032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B2330"/>
          </a:solidFill>
          <a:ln w="12700">
            <a:solidFill>
              <a:srgbClr val="A3E6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28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max_depth=4, lr=0.05, n=300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828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 0.505  ✓ best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4498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max_depth=3, lr=0.10, n=150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54498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 0.501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21040" y="3794760"/>
            <a:ext cx="3291840" cy="2423160"/>
          </a:xfrm>
          <a:prstGeom prst="roundRect">
            <a:avLst>
              <a:gd name="adj" fmla="val 301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CONFIG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95360" y="434340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max_depth: 4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learning_rate: 0.05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n_estimators: 300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subsample: 0.8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on the Test Set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936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8680" y="50749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wins on accuracy (52.5%); Random Forest edges it slightly on ROC-AUC (0.536 vs 0.526). Both tree ensembles clearly beat Logistic Regression and the 50.7% majority-class baseline.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Prediction Horizon Matter?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leakage-free pipeline, repeated at three horizons — 1, 5, and 10 trading days ahead.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78308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BY HORIZON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3774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0.505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0.507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= 0.500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114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moves are close to random. A small, real edge appears at 10 trading days — consistent with market-efficiency theory.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the Model Look At?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69164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9659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5146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Medium-term trend and volatility signals (volatility_20d, dist_sma20/50, macd_hist) matter most.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Single-day return (ret_1d) matters least — the noisiest, least-informative feature, exactly as expected.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Strategy Backtest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603504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7" name="Image 0" descr="C:\Users\NBODT\AppData\Local\Temp\claude\C--Users-NBODT-Desktop-----\2b6ff6e8-e305-4bc6-988f-ca2316229282\scratchpad\slides\icons\alert-triang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illustration only — not investment advice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go long only when P(up) &gt; 0.55, otherwise hold cash. Equal-weighted across all 20 tickers, test period only, no transaction costs.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14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3.86x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MODEL-GATED STRATEGY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29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3E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12.46x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&amp; HOLD (EQUAL-WEIGHT)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of $1 over the test period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of $1 over the test period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3776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80160" y="4937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buy-and-hold wins here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window contains a strong bull run. Sitting in cash whenever confidence dips costs more than a ~0.53 AUC edge can recover. A statistical edge is not automatically a profitable trading strategy — timing has a real opportunity cost.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— What This Model Doesn't Capture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7" name="Image 0" descr="C:\Users\NBODT\AppData\Local\Temp\claude\C--Users-NBODT-Desktop-----\2b6ff6e8-e305-4bc6-988f-ca2316229282\scratchpad\slides\icons\alert-triangle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856232"/>
            <a:ext cx="265176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1700784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signal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52728" y="1975104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≈ 0.50–0.53, close to random — reported honestly, not tuned to look better.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1" name="Image 1" descr="C:\Users\NBODT\AppData\Local\Temp\claude\C--Users-NBODT-Desktop-----\2b6ff6e8-e305-4bc6-988f-ca2316229282\scratchpad\slides\icons\database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5234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52728" y="2596896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fundamentals or macro data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52728" y="2871216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Earnings, interest rates, and news events aren't in the feature set.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5" name="Image 2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648456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52728" y="3493008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Survivorship bias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52728" y="3767328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large, currently-listed companies — delistings are excluded.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9" name="Image 3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44568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2728" y="4389120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transaction costs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52728" y="466344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backtest ignores fees, slippage, and taxes.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4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40680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52728" y="5285232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isn't backtestable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252728" y="5559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Stockscope's live news scraper has no historical archive to align to past dates.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CONCLUSION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Back to Stockscope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386584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2402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leakage-free pipeline: backward-looking features, forward-looking label kept strictly separate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227832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0815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modestly beats the naive baseline at longer horizons, not at 1 day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4069080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macd_hist, dist_sma50/20, and volatility are the most informative features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910328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76402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statistical edge ≠ a profitable trading strategy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C:\Users\NBODT\AppData\Local\Temp\claude\C--Users-NBODT-Desktop-----\2b6ff6e8-e305-4bc6-988f-ca2316229282\scratchpad\slides\icons\arrow-right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96596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4088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Ship It in the Live App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6060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0A0E1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12280" y="27889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61% probability of higher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in 10 trading days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35204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estimate, not financial advice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41605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the trained model and load it in the Streamlit app, next to the existing technical view Stockscope already shows for any ticker.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· CP020003</a:t>
            </a:r>
            <a:endParaRPr lang="en-US" sz="1000" dirty="0"/>
          </a:p>
        </p:txBody>
      </p:sp>
      <p:pic>
        <p:nvPicPr>
          <p:cNvPr id="4" name="Image 0" descr="C:\Users\NBODT\AppData\Local\Temp\claude\C--Users-NBODT-Desktop-----\2b6ff6e8-e305-4bc6-988f-ca2316229282\scratchpad\slides\icons\trending-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920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Stockscope AI  ·  CP020003 Artificial Intelligence  ·  Group ___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2026-09-26T09:00:58Z</dcterms:created>
  <dcterms:modified xsi:type="dcterms:W3CDTF">2026-09-26T09:00:58Z</dcterms:modified>
</cp:coreProperties>
</file>